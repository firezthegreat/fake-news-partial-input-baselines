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the 98% looks suspicious" id="{96260451-964f-6d87-346b-da593f9d18c4}">
          <p14:sldIdLst>
            <p14:sldId id="256"/>
            <p14:sldId id="257"/>
          </p14:sldIdLst>
        </p14:section>
        <p14:section name="Method" id="{7d8c9ac8-17d4-0ec1-bcb6-3cff4c1213e4}">
          <p14:sldIdLst>
            <p14:sldId id="258"/>
            <p14:sldId id="259"/>
          </p14:sldIdLst>
        </p14:section>
        <p14:section name="Evidence" id="{9515810a-3f30-be9b-df42-6f76065a6736}">
          <p14:sldIdLst>
            <p14:sldId id="260"/>
            <p14:sldId id="261"/>
            <p14:sldId id="262"/>
          </p14:sldIdLst>
        </p14:section>
        <p14:section name="Checks" id="{30eaaeba-20ac-9d42-51d1-c3fdaeb54a1c}">
          <p14:sldIdLst>
            <p14:sldId id="263"/>
            <p14:sldId id="264"/>
          </p14:sldIdLst>
        </p14:section>
        <p14:section name="Verdict" id="{cf11b775-946d-c0c6-fc38-45cab17204a4}">
          <p14:sldIdLst>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(about 20 seconds). “Fake news detectors trained on the ISOT benchmark report 98 to 99 percent accuracy. I built one and got 98.4 percent. Then I tested whether that number actually means anything.” Pause, then move to the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flaw (about 30 seconds). “Every real article in ISOT comes from Reuters; every fake one comes from a set of flagged websites. So a model could be recognising the newsroom instead of the lie.” Then the analogy: if every cancer scan came from Hospital A and every healthy scan from Hospital B, a model reaches 99% by recognising the hospital, and fails at Hospital 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(about 30 seconds). “To test this I used partial-input baselines, from Gururangan et al. 2018: I trained models that are not allowed to see the content. If they still score high, the dataset is leaking the answer.” Add: it is an established method from the dataset-artifacts literature, not something I invented.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1 in the report. Every condition goes through one function, run_experiment(), with the same split and the same classifier, so the only thing that differs between experiments is the input. Duplicates were removed because a copy in train and a copy in test would let the model be tested on something it memorised; 630 of the 631 empty bodies were fake, so keeping them would have been a leak I created. Chance is 54.8% because the cleaned data is 54.8% real. Transition: “So what happens when I take the content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2 in the report (about 45 seconds). “The first sentence alone: 99.1, higher than the full article. Only words like ‘the, of, a’ and punctuation: 96.8. Eight numbers like word count and question marks: 86.2. Chance is 54.8.” If asked why the first sentence wins: in Reuters copy it holds the dateline, “WASHINGTON (Reuters) -”, an almost pure source label. The headline result is function words: no nouns, verbs or names, still 96.8%.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3 in the report (about 30 seconds). “The strongest clues are ‘Reuters’, ‘Washington’, days of the week, ‘featured image via’. Publisher markers, not truth.” I chose logistic regression because each word gets one readable weight; that is how these markers were found. A neural model would not show this so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Figs. 4 and 8 in the report (about 45 seconds). “I removed every marker from both classes: the dateline, the first sentence, every ‘Reuters’, image credits, links, handles, media tags, and every quote mark. Still 97.3.” Why it barely matters: wire reporting attributes every claim (“said”, “told reporters”), partisan blogs talk to the reader (“this”, “just”, “you”, “!”). Removing the label on the bottle doesn’t change what’s in it. Honesty point if asked: the quote-mark rule was extended once, after E5c’s coefficients showed it; that lowered my own numbers and both versions are reported. Transition: “But maybe it’s just topic, or just my classifier, or just this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Figs. 6 and 7 in the report (about 45 seconds). Topic: real ISOT articles are about half world news, while fake ones are all US politics, so “world news = real” could explain part of it. Keeping only US-politics articles, stripping everything and keeping only function words still gives 90.3 against 60.9 chance (chance rises because fake is now the majority). Classifier: “a linear SVM does slightly better on every condition, not worse.” So the signal is writing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5 in the report (about 45 seconds). “Trained on ISOT, tested elsewhere: 45.5 on LIAR, below chance; 61.2 on a dataset of real articles from other outlets, calling two-thirds of genuine news fake.” Why below chance: the model learned “not written like Reuters = fake”, and politicians’ statements aren’t written like Reuters. LIAR is only short statements, which is why the full-article McIntire test exists, with its own in-domain control (91.9%).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(about 30 seconds). “The 98 percent measures the newsroom, not the truth. ISOT’s labels coincide with two publishing pipelines, and models learn to recognise the pipeline. So fake news detectors should be tested across sources and alongside partial-input baselines, not on a single benchmark split.” Say clearly: this does not mean fake news detection is impossible, only that ISOT accuracy cannot show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limitations before being asked; it reads as more credible. The topic, classifier, label-mapping and full-article objections were tested, not just mentioned. If asked “why no BERT?”: logistic regression shows exactly which words it uses, and the SVM result suggests stronger models exploit the shortcut at least as well; transformers are future work. Close with: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7F6F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17352"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r>
              <a:rPr lang="en-US" sz="3400" b="1" dirty="0">
                <a:solidFill>
                  <a:schemeClr val="tx1"/>
                </a:solidFill>
                <a:latin typeface="Cambria" pitchFamily="34" charset="0"/>
                <a:ea typeface="Cambria" pitchFamily="34" charset="-122"/>
                <a:cs typeface="Cambria" pitchFamily="34" charset="-120"/>
              </a:rPr>
              <a:t>Title</a:t>
            </a:r>
            <a:endParaRPr lang="en-US" sz="3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_ALT">
    <p:bg>
      <p:bgPr>
        <a:solidFill>
          <a:srgbClr val="ECEAE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777240"/>
            <a:ext cx="10817352" cy="73152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r>
              <a:rPr lang="en-US" sz="3400" b="1" dirty="0">
                <a:solidFill>
                  <a:schemeClr val="tx1"/>
                </a:solidFill>
                <a:latin typeface="Cambria" pitchFamily="34" charset="0"/>
                <a:ea typeface="Cambria" pitchFamily="34" charset="-122"/>
                <a:cs typeface="Cambria" pitchFamily="34" charset="-120"/>
              </a:rPr>
              <a:t>Title</a:t>
            </a:r>
            <a:endParaRPr lang="en-US" sz="3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14213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85800" y="1554480"/>
            <a:ext cx="10058400" cy="201168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r>
              <a:rPr lang="en-US" sz="4400" b="1" dirty="0">
                <a:solidFill>
                  <a:schemeClr val="bg1"/>
                </a:solidFill>
                <a:latin typeface="Cambria" pitchFamily="34" charset="0"/>
                <a:ea typeface="Cambria" pitchFamily="34" charset="-122"/>
                <a:cs typeface="Cambria" pitchFamily="34" charset="-120"/>
              </a:rPr>
              <a:t>Title</a:t>
            </a:r>
            <a:endParaRPr lang="en-US" sz="4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8D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github.com/FirezTheGreat/fake-news-partial-input-baselines" TargetMode="External"/><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yebrow"/>
          <p:cNvSpPr txBox="1"/>
          <p:nvPr/>
        </p:nvSpPr>
        <p:spPr>
          <a:xfrm>
            <a:off x="685800" y="1051560"/>
            <a:ext cx="10817352"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WSMA LAB PROJECT · CSE_3132</a:t>
            </a:r>
            <a:endParaRPr lang="en-US" sz="1200" dirty="0"/>
          </a:p>
        </p:txBody>
      </p:sp>
      <p:sp>
        <p:nvSpPr>
          <p:cNvPr id="3" name="Text 0"/>
          <p:cNvSpPr/>
          <p:nvPr>
            <p:ph idx="100" type="title" hasCustomPrompt="1"/>
          </p:nvPr>
        </p:nvSpPr>
        <p:spPr>
          <a:xfrm>
            <a:off x="685800" y="1554480"/>
            <a:ext cx="10058400" cy="20116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Partial-Input Baselines Reveal Construction Artifacts in Fake News Benchmarks</a:t>
            </a:r>
            <a:endParaRPr lang="en-US" sz="4400" dirty="0"/>
          </a:p>
        </p:txBody>
      </p:sp>
      <p:sp>
        <p:nvSpPr>
          <p:cNvPr id="4" name="Tagline"/>
          <p:cNvSpPr txBox="1"/>
          <p:nvPr/>
        </p:nvSpPr>
        <p:spPr>
          <a:xfrm>
            <a:off x="685800" y="3703320"/>
            <a:ext cx="10058400" cy="548640"/>
          </a:xfrm>
          <a:prstGeom prst="rect">
            <a:avLst/>
          </a:prstGeom>
          <a:noFill/>
          <a:ln/>
        </p:spPr>
        <p:txBody>
          <a:bodyPr wrap="square" lIns="0" tIns="0" rIns="0" bIns="0" rtlCol="0" anchor="t"/>
          <a:lstStyle/>
          <a:p>
            <a:pPr indent="0" marL="0">
              <a:buNone/>
            </a:pPr>
            <a:r>
              <a:rPr lang="en-US" sz="2200" i="1" dirty="0">
                <a:solidFill>
                  <a:schemeClr val="accent6"/>
                </a:solidFill>
                <a:latin typeface="Cambria" pitchFamily="34" charset="0"/>
                <a:ea typeface="Cambria" pitchFamily="34" charset="-122"/>
                <a:cs typeface="Cambria" pitchFamily="34" charset="-120"/>
              </a:rPr>
              <a:t>I built a fake news detector, got 98%, then proved the 98% is fake.</a:t>
            </a:r>
            <a:endParaRPr lang="en-US" sz="2200" dirty="0"/>
          </a:p>
        </p:txBody>
      </p:sp>
      <p:sp>
        <p:nvSpPr>
          <p:cNvPr id="5" name="Author"/>
          <p:cNvSpPr txBox="1"/>
          <p:nvPr/>
        </p:nvSpPr>
        <p:spPr>
          <a:xfrm>
            <a:off x="685800" y="5257800"/>
            <a:ext cx="10817352" cy="73152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Abhishek Ghosh · Reg. No. 245816186</a:t>
            </a:r>
            <a:endParaRPr lang="en-US" sz="1800" dirty="0"/>
          </a:p>
          <a:p>
            <a:pPr indent="0" marL="0">
              <a:spcAft>
                <a:spcPts val="400"/>
              </a:spcAft>
              <a:buNone/>
            </a:pPr>
            <a:r>
              <a:rPr lang="en-US" sz="1400" dirty="0">
                <a:solidFill>
                  <a:schemeClr val="accent6"/>
                </a:solidFill>
              </a:rPr>
              <a:t>Dept. of CSE (Data Science), Manipal Institute of Technology, Bengaluru · Submitted to Dr. Yashaswini K A</a:t>
            </a:r>
            <a:endParaRPr lang="en-US" sz="18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8D6"/>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THE BENCHMARK</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ISOT’s two classes come from two newsrooms</a:t>
            </a:r>
            <a:endParaRPr lang="en-US" sz="3400" dirty="0"/>
          </a:p>
        </p:txBody>
      </p:sp>
      <p:sp>
        <p:nvSpPr>
          <p:cNvPr id="4" name="Class card 1"/>
          <p:cNvSpPr/>
          <p:nvPr/>
        </p:nvSpPr>
        <p:spPr>
          <a:xfrm>
            <a:off x="685800" y="1737360"/>
            <a:ext cx="5212080" cy="2331720"/>
          </a:xfrm>
          <a:prstGeom prst="roundRect">
            <a:avLst>
              <a:gd name="adj" fmla="val 4706"/>
            </a:avLst>
          </a:prstGeom>
          <a:solidFill>
            <a:srgbClr val="FFFFFF"/>
          </a:solidFill>
          <a:ln w="9525">
            <a:solidFill>
              <a:srgbClr val="DCD9D0"/>
            </a:solidFill>
            <a:prstDash val="solid"/>
          </a:ln>
        </p:spPr>
      </p:sp>
      <p:sp>
        <p:nvSpPr>
          <p:cNvPr id="5" name="Text 3"/>
          <p:cNvSpPr txBox="1"/>
          <p:nvPr/>
        </p:nvSpPr>
        <p:spPr>
          <a:xfrm>
            <a:off x="1005840" y="1965960"/>
            <a:ext cx="4572000" cy="86868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21,417</a:t>
            </a:r>
            <a:endParaRPr lang="en-US" sz="5400" dirty="0"/>
          </a:p>
        </p:txBody>
      </p:sp>
      <p:sp>
        <p:nvSpPr>
          <p:cNvPr id="6" name="Text 4"/>
          <p:cNvSpPr txBox="1"/>
          <p:nvPr/>
        </p:nvSpPr>
        <p:spPr>
          <a:xfrm>
            <a:off x="1005840" y="28803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real articles</a:t>
            </a:r>
            <a:endParaRPr lang="en-US" sz="1800" dirty="0"/>
          </a:p>
        </p:txBody>
      </p:sp>
      <p:sp>
        <p:nvSpPr>
          <p:cNvPr id="7" name="Text 5"/>
          <p:cNvSpPr txBox="1"/>
          <p:nvPr/>
        </p:nvSpPr>
        <p:spPr>
          <a:xfrm>
            <a:off x="1005840" y="3291840"/>
            <a:ext cx="4572000" cy="640080"/>
          </a:xfrm>
          <a:prstGeom prst="rect">
            <a:avLst/>
          </a:prstGeom>
          <a:noFill/>
          <a:ln/>
        </p:spPr>
        <p:txBody>
          <a:bodyPr wrap="square" lIns="0" tIns="0" rIns="0" bIns="0" rtlCol="0" anchor="t"/>
          <a:lstStyle/>
          <a:p>
            <a:pPr indent="0" marL="0">
              <a:buNone/>
            </a:pPr>
            <a:r>
              <a:rPr lang="en-US" sz="1500" dirty="0">
                <a:solidFill>
                  <a:schemeClr val="tx2"/>
                </a:solidFill>
              </a:rPr>
              <a:t>All from Reuters, a wire agency with a strict house style</a:t>
            </a:r>
            <a:endParaRPr lang="en-US" sz="1500" dirty="0"/>
          </a:p>
        </p:txBody>
      </p:sp>
      <p:sp>
        <p:nvSpPr>
          <p:cNvPr id="8" name="Class card 2"/>
          <p:cNvSpPr/>
          <p:nvPr/>
        </p:nvSpPr>
        <p:spPr>
          <a:xfrm>
            <a:off x="6291072" y="1737360"/>
            <a:ext cx="5212080" cy="2331720"/>
          </a:xfrm>
          <a:prstGeom prst="roundRect">
            <a:avLst>
              <a:gd name="adj" fmla="val 4706"/>
            </a:avLst>
          </a:prstGeom>
          <a:solidFill>
            <a:srgbClr val="FFFFFF"/>
          </a:solidFill>
          <a:ln w="9525">
            <a:solidFill>
              <a:srgbClr val="DCD9D0"/>
            </a:solidFill>
            <a:prstDash val="solid"/>
          </a:ln>
        </p:spPr>
      </p:sp>
      <p:sp>
        <p:nvSpPr>
          <p:cNvPr id="9" name="Text 7"/>
          <p:cNvSpPr txBox="1"/>
          <p:nvPr/>
        </p:nvSpPr>
        <p:spPr>
          <a:xfrm>
            <a:off x="6611112" y="1965960"/>
            <a:ext cx="4572000" cy="868680"/>
          </a:xfrm>
          <a:prstGeom prst="rect">
            <a:avLst/>
          </a:prstGeom>
          <a:noFill/>
          <a:ln/>
        </p:spPr>
        <p:txBody>
          <a:bodyPr wrap="square" lIns="0" tIns="0" rIns="0" bIns="0" rtlCol="0" anchor="t"/>
          <a:lstStyle/>
          <a:p>
            <a:pPr indent="0" marL="0">
              <a:buNone/>
            </a:pPr>
            <a:r>
              <a:rPr lang="en-US" sz="5400" b="1" dirty="0">
                <a:solidFill>
                  <a:schemeClr val="accent2"/>
                </a:solidFill>
                <a:latin typeface="Cambria" pitchFamily="34" charset="0"/>
                <a:ea typeface="Cambria" pitchFamily="34" charset="-122"/>
                <a:cs typeface="Cambria" pitchFamily="34" charset="-120"/>
              </a:rPr>
              <a:t>23,481</a:t>
            </a:r>
            <a:endParaRPr lang="en-US" sz="5400" dirty="0"/>
          </a:p>
        </p:txBody>
      </p:sp>
      <p:sp>
        <p:nvSpPr>
          <p:cNvPr id="10" name="Text 8"/>
          <p:cNvSpPr txBox="1"/>
          <p:nvPr/>
        </p:nvSpPr>
        <p:spPr>
          <a:xfrm>
            <a:off x="6611112" y="2880360"/>
            <a:ext cx="4572000" cy="365760"/>
          </a:xfrm>
          <a:prstGeom prst="rect">
            <a:avLst/>
          </a:prstGeom>
          <a:noFill/>
          <a:ln/>
        </p:spPr>
        <p:txBody>
          <a:bodyPr wrap="square" lIns="0" tIns="0" rIns="0" bIns="0" rtlCol="0" anchor="t"/>
          <a:lstStyle/>
          <a:p>
            <a:pPr indent="0" marL="0">
              <a:buNone/>
            </a:pPr>
            <a:r>
              <a:rPr lang="en-US" sz="1800" b="1" dirty="0">
                <a:solidFill>
                  <a:schemeClr val="tx1"/>
                </a:solidFill>
              </a:rPr>
              <a:t>fake articles</a:t>
            </a:r>
            <a:endParaRPr lang="en-US" sz="1800" dirty="0"/>
          </a:p>
        </p:txBody>
      </p:sp>
      <p:sp>
        <p:nvSpPr>
          <p:cNvPr id="11" name="Text 9"/>
          <p:cNvSpPr txBox="1"/>
          <p:nvPr/>
        </p:nvSpPr>
        <p:spPr>
          <a:xfrm>
            <a:off x="6611112" y="3291840"/>
            <a:ext cx="4572000" cy="640080"/>
          </a:xfrm>
          <a:prstGeom prst="rect">
            <a:avLst/>
          </a:prstGeom>
          <a:noFill/>
          <a:ln/>
        </p:spPr>
        <p:txBody>
          <a:bodyPr wrap="square" lIns="0" tIns="0" rIns="0" bIns="0" rtlCol="0" anchor="t"/>
          <a:lstStyle/>
          <a:p>
            <a:pPr indent="0" marL="0">
              <a:buNone/>
            </a:pPr>
            <a:r>
              <a:rPr lang="en-US" sz="1500" dirty="0">
                <a:solidFill>
                  <a:schemeClr val="tx2"/>
                </a:solidFill>
              </a:rPr>
              <a:t>From partisan websites flagged as unreliable</a:t>
            </a:r>
            <a:endParaRPr lang="en-US" sz="1500" dirty="0"/>
          </a:p>
        </p:txBody>
      </p:sp>
      <p:sp>
        <p:nvSpPr>
          <p:cNvPr id="12" name="Statement"/>
          <p:cNvSpPr txBox="1"/>
          <p:nvPr/>
        </p:nvSpPr>
        <p:spPr>
          <a:xfrm>
            <a:off x="685800" y="4389120"/>
            <a:ext cx="10817352" cy="731520"/>
          </a:xfrm>
          <a:prstGeom prst="rect">
            <a:avLst/>
          </a:prstGeom>
          <a:noFill/>
          <a:ln/>
        </p:spPr>
        <p:txBody>
          <a:bodyPr wrap="square" lIns="0" tIns="0" rIns="0" bIns="0" rtlCol="0" anchor="t"/>
          <a:lstStyle/>
          <a:p>
            <a:pPr indent="0" marL="0">
              <a:buNone/>
            </a:pPr>
            <a:r>
              <a:rPr lang="en-US" sz="1800" dirty="0">
                <a:solidFill>
                  <a:schemeClr val="tx1"/>
                </a:solidFill>
              </a:rPr>
              <a:t>So a model can get the label right by recognising </a:t>
            </a:r>
            <a:pPr indent="0" marL="0">
              <a:buNone/>
            </a:pPr>
            <a:r>
              <a:rPr lang="en-US" sz="1800" b="1" dirty="0">
                <a:solidFill>
                  <a:schemeClr val="tx1"/>
                </a:solidFill>
              </a:rPr>
              <a:t>who wrote the article</a:t>
            </a:r>
            <a:pPr indent="0" marL="0">
              <a:buNone/>
            </a:pPr>
            <a:r>
              <a:rPr lang="en-US" sz="1800" dirty="0">
                <a:solidFill>
                  <a:schemeClr val="tx1"/>
                </a:solidFill>
              </a:rPr>
              <a:t>, without judging </a:t>
            </a:r>
            <a:pPr indent="0" marL="0">
              <a:buNone/>
            </a:pPr>
            <a:r>
              <a:rPr lang="en-US" sz="1800" b="1" dirty="0">
                <a:solidFill>
                  <a:schemeClr val="tx1"/>
                </a:solidFill>
              </a:rPr>
              <a:t>whether it is true</a:t>
            </a:r>
            <a:pPr indent="0" marL="0">
              <a:buNone/>
            </a:pPr>
            <a:r>
              <a:rPr lang="en-US" sz="1800" dirty="0">
                <a:solidFill>
                  <a:schemeClr val="tx1"/>
                </a:solidFill>
              </a:rPr>
              <a:t>.</a:t>
            </a:r>
            <a:endParaRPr lang="en-US" sz="1800" dirty="0"/>
          </a:p>
        </p:txBody>
      </p:sp>
      <p:sp>
        <p:nvSpPr>
          <p:cNvPr id="13" name="Analogy"/>
          <p:cNvSpPr txBox="1"/>
          <p:nvPr/>
        </p:nvSpPr>
        <p:spPr>
          <a:xfrm>
            <a:off x="685800" y="5166360"/>
            <a:ext cx="10817352" cy="457200"/>
          </a:xfrm>
          <a:prstGeom prst="rect">
            <a:avLst/>
          </a:prstGeom>
          <a:noFill/>
          <a:ln/>
        </p:spPr>
        <p:txBody>
          <a:bodyPr wrap="square" lIns="0" tIns="0" rIns="0" bIns="0" rtlCol="0" anchor="t"/>
          <a:lstStyle/>
          <a:p>
            <a:pPr indent="0" marL="0">
              <a:buNone/>
            </a:pPr>
            <a:r>
              <a:rPr lang="en-US" sz="1600" i="1" dirty="0">
                <a:solidFill>
                  <a:schemeClr val="tx2"/>
                </a:solidFill>
                <a:latin typeface="Cambria" pitchFamily="34" charset="0"/>
                <a:ea typeface="Cambria" pitchFamily="34" charset="-122"/>
                <a:cs typeface="Cambria" pitchFamily="34" charset="-120"/>
              </a:rPr>
              <a:t>Like a cancer detector that learns which hospital took the scan, then fails at a new hospital.</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Eyebrow"/>
          <p:cNvSpPr txBox="1"/>
          <p:nvPr/>
        </p:nvSpPr>
        <p:spPr>
          <a:xfrm>
            <a:off x="685800" y="1051560"/>
            <a:ext cx="10817352"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THE QUESTION</a:t>
            </a:r>
            <a:endParaRPr lang="en-US" sz="1200" dirty="0"/>
          </a:p>
        </p:txBody>
      </p:sp>
      <p:sp>
        <p:nvSpPr>
          <p:cNvPr id="3" name="Text 0"/>
          <p:cNvSpPr/>
          <p:nvPr>
            <p:ph idx="100" type="title" hasCustomPrompt="1"/>
          </p:nvPr>
        </p:nvSpPr>
        <p:spPr>
          <a:xfrm>
            <a:off x="685800" y="1554480"/>
            <a:ext cx="10058400" cy="20116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Is the detector recognising lies, or the newsroom?</a:t>
            </a:r>
            <a:endParaRPr lang="en-US" sz="4400" dirty="0"/>
          </a:p>
        </p:txBody>
      </p:sp>
      <p:sp>
        <p:nvSpPr>
          <p:cNvPr id="4" name="Method summary"/>
          <p:cNvSpPr txBox="1"/>
          <p:nvPr/>
        </p:nvSpPr>
        <p:spPr>
          <a:xfrm>
            <a:off x="685800" y="3840480"/>
            <a:ext cx="9692640" cy="1371600"/>
          </a:xfrm>
          <a:prstGeom prst="rect">
            <a:avLst/>
          </a:prstGeom>
          <a:noFill/>
          <a:ln/>
        </p:spPr>
        <p:txBody>
          <a:bodyPr wrap="square" lIns="0" tIns="0" rIns="0" bIns="0" rtlCol="0" anchor="t"/>
          <a:lstStyle/>
          <a:p>
            <a:pPr indent="0" marL="0">
              <a:lnSpc>
                <a:spcPct val="115000"/>
              </a:lnSpc>
              <a:buNone/>
            </a:pPr>
            <a:r>
              <a:rPr lang="en-US" sz="2000" b="1" dirty="0">
                <a:solidFill>
                  <a:schemeClr val="accent6"/>
                </a:solidFill>
              </a:rPr>
              <a:t>Partial-input baselines</a:t>
            </a:r>
            <a:pPr indent="0" marL="0">
              <a:lnSpc>
                <a:spcPct val="115000"/>
              </a:lnSpc>
              <a:buNone/>
            </a:pPr>
            <a:r>
              <a:rPr lang="en-US" sz="2000" dirty="0">
                <a:solidFill>
                  <a:schemeClr val="accent6"/>
                </a:solidFill>
              </a:rPr>
              <a:t> (Gururangan et al., 2018): train models that are </a:t>
            </a:r>
            <a:pPr indent="0" marL="0">
              <a:lnSpc>
                <a:spcPct val="115000"/>
              </a:lnSpc>
              <a:buNone/>
            </a:pPr>
            <a:r>
              <a:rPr lang="en-US" sz="2000" i="1" dirty="0">
                <a:solidFill>
                  <a:schemeClr val="accent6"/>
                </a:solidFill>
              </a:rPr>
              <a:t>not allowed</a:t>
            </a:r>
            <a:pPr indent="0" marL="0">
              <a:lnSpc>
                <a:spcPct val="115000"/>
              </a:lnSpc>
              <a:buNone/>
            </a:pPr>
            <a:r>
              <a:rPr lang="en-US" sz="2000" dirty="0">
                <a:solidFill>
                  <a:schemeClr val="accent6"/>
                </a:solidFill>
              </a:rPr>
              <a:t> to see the article’s content. If they still score far above chance, the dataset is leaking the answer.</a:t>
            </a:r>
            <a:endParaRPr lang="en-US" sz="20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8D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METHOD</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One harness, so only the input changes</a:t>
            </a:r>
            <a:endParaRPr lang="en-US" sz="3400" dirty="0"/>
          </a:p>
        </p:txBody>
      </p:sp>
      <p:sp>
        <p:nvSpPr>
          <p:cNvPr id="4" name="Diagram frame"/>
          <p:cNvSpPr/>
          <p:nvPr/>
        </p:nvSpPr>
        <p:spPr>
          <a:xfrm>
            <a:off x="685800" y="1691640"/>
            <a:ext cx="6949440" cy="4087368"/>
          </a:xfrm>
          <a:prstGeom prst="roundRect">
            <a:avLst>
              <a:gd name="adj" fmla="val 2685"/>
            </a:avLst>
          </a:prstGeom>
          <a:solidFill>
            <a:srgbClr val="FFFFFF"/>
          </a:solidFill>
          <a:ln w="9525">
            <a:solidFill>
              <a:srgbClr val="DCD9D0"/>
            </a:solidFill>
            <a:prstDash val="solid"/>
          </a:ln>
        </p:spPr>
      </p:sp>
      <p:pic>
        <p:nvPicPr>
          <p:cNvPr id="5" name="Architecture diagram" descr="System architecture: ISOT is cleaned, each condition makes a restricted view of the articles, every view goes through run_experiment(), which writes metrics, coefficients and figures; LIAR and McIntire are test sets only">    </p:cNvPr>
          <p:cNvPicPr>
            <a:picLocks noChangeAspect="1"/>
          </p:cNvPicPr>
          <p:nvPr/>
        </p:nvPicPr>
        <p:blipFill>
          <a:blip r:embed="rId1"/>
          <a:stretch>
            <a:fillRect/>
          </a:stretch>
        </p:blipFill>
        <p:spPr>
          <a:xfrm>
            <a:off x="731520" y="1719072"/>
            <a:ext cx="6858000" cy="4028338"/>
          </a:xfrm>
          <a:prstGeom prst="rect">
            <a:avLst/>
          </a:prstGeom>
        </p:spPr>
      </p:pic>
      <p:sp>
        <p:nvSpPr>
          <p:cNvPr id="6" name="Method points"/>
          <p:cNvSpPr txBox="1"/>
          <p:nvPr/>
        </p:nvSpPr>
        <p:spPr>
          <a:xfrm>
            <a:off x="7955280" y="1783080"/>
            <a:ext cx="3547872" cy="402336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Cleaned ISOT: 38,644 articles (631 empty and 5,623 duplicate bodies removed)</a:t>
            </a:r>
            <a:endParaRPr lang="en-US" sz="1500" dirty="0"/>
          </a:p>
          <a:p>
            <a:pPr marL="342900" indent="-342900">
              <a:spcAft>
                <a:spcPts val="800"/>
              </a:spcAft>
              <a:buSzPct val="100000"/>
              <a:buChar char="•"/>
            </a:pPr>
            <a:r>
              <a:rPr lang="en-US" sz="1500" dirty="0">
                <a:solidFill>
                  <a:schemeClr val="tx1"/>
                </a:solidFill>
              </a:rPr>
              <a:t>Same stratified 80/20 split, seed 42, for every condition</a:t>
            </a:r>
            <a:endParaRPr lang="en-US" sz="1500" dirty="0"/>
          </a:p>
          <a:p>
            <a:pPr marL="342900" indent="-342900">
              <a:spcAft>
                <a:spcPts val="800"/>
              </a:spcAft>
              <a:buSzPct val="100000"/>
              <a:buChar char="•"/>
            </a:pPr>
            <a:r>
              <a:rPr lang="en-US" sz="1500" dirty="0">
                <a:solidFill>
                  <a:schemeClr val="tx1"/>
                </a:solidFill>
              </a:rPr>
              <a:t>TF-IDF + logistic regression; random forest for numeric features</a:t>
            </a:r>
            <a:endParaRPr lang="en-US" sz="1500" dirty="0"/>
          </a:p>
          <a:p>
            <a:pPr marL="342900" indent="-342900">
              <a:spcAft>
                <a:spcPts val="800"/>
              </a:spcAft>
              <a:buSzPct val="100000"/>
              <a:buChar char="•"/>
            </a:pPr>
            <a:r>
              <a:rPr lang="en-US" sz="1500" dirty="0">
                <a:solidFill>
                  <a:schemeClr val="tx1"/>
                </a:solidFill>
              </a:rPr>
              <a:t>Five random splits per condition, reported as mean ± SD</a:t>
            </a:r>
            <a:endParaRPr lang="en-US" sz="1500" dirty="0"/>
          </a:p>
          <a:p>
            <a:pPr marL="342900" indent="-342900">
              <a:spcAft>
                <a:spcPts val="800"/>
              </a:spcAft>
              <a:buSzPct val="100000"/>
              <a:buChar char="•"/>
            </a:pPr>
            <a:r>
              <a:rPr lang="en-US" sz="1500" dirty="0">
                <a:solidFill>
                  <a:schemeClr val="tx1"/>
                </a:solidFill>
              </a:rPr>
              <a:t>Chance measured, not assumed: 54.8%</a:t>
            </a:r>
            <a:endParaRPr lang="en-US" sz="15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EVIDENCE 1 · TAKE THE CONTENT AWAY</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Without the content, models still score 86–99%</a:t>
            </a:r>
            <a:endParaRPr lang="en-US" sz="3400" dirty="0"/>
          </a:p>
        </p:txBody>
      </p:sp>
      <p:sp>
        <p:nvSpPr>
          <p:cNvPr id="4" name="Probe card 1"/>
          <p:cNvSpPr/>
          <p:nvPr/>
        </p:nvSpPr>
        <p:spPr>
          <a:xfrm>
            <a:off x="685800" y="1691640"/>
            <a:ext cx="5212080" cy="1691640"/>
          </a:xfrm>
          <a:prstGeom prst="roundRect">
            <a:avLst>
              <a:gd name="adj" fmla="val 6486"/>
            </a:avLst>
          </a:prstGeom>
          <a:solidFill>
            <a:srgbClr val="FFFFFF"/>
          </a:solidFill>
          <a:ln w="9525">
            <a:solidFill>
              <a:srgbClr val="DCD9D0"/>
            </a:solidFill>
            <a:prstDash val="solid"/>
          </a:ln>
        </p:spPr>
      </p:sp>
      <p:sp>
        <p:nvSpPr>
          <p:cNvPr id="5" name="Text 3"/>
          <p:cNvSpPr txBox="1"/>
          <p:nvPr/>
        </p:nvSpPr>
        <p:spPr>
          <a:xfrm>
            <a:off x="1005840" y="1874520"/>
            <a:ext cx="4572000" cy="777240"/>
          </a:xfrm>
          <a:prstGeom prst="rect">
            <a:avLst/>
          </a:prstGeom>
          <a:noFill/>
          <a:ln/>
        </p:spPr>
        <p:txBody>
          <a:bodyPr wrap="square" lIns="0" tIns="0" rIns="0" bIns="0" rtlCol="0" anchor="t"/>
          <a:lstStyle/>
          <a:p>
            <a:pPr indent="0" marL="0">
              <a:buNone/>
            </a:pPr>
            <a:r>
              <a:rPr lang="en-US" sz="4800" b="1" dirty="0">
                <a:solidFill>
                  <a:schemeClr val="tx1"/>
                </a:solidFill>
                <a:latin typeface="Cambria" pitchFamily="34" charset="0"/>
                <a:ea typeface="Cambria" pitchFamily="34" charset="-122"/>
                <a:cs typeface="Cambria" pitchFamily="34" charset="-120"/>
              </a:rPr>
              <a:t>98.4%</a:t>
            </a:r>
            <a:endParaRPr lang="en-US" sz="4800" dirty="0"/>
          </a:p>
        </p:txBody>
      </p:sp>
      <p:sp>
        <p:nvSpPr>
          <p:cNvPr id="6" name="Text 4"/>
          <p:cNvSpPr txBox="1"/>
          <p:nvPr/>
        </p:nvSpPr>
        <p:spPr>
          <a:xfrm>
            <a:off x="1005840" y="2697480"/>
            <a:ext cx="4572000" cy="548640"/>
          </a:xfrm>
          <a:prstGeom prst="rect">
            <a:avLst/>
          </a:prstGeom>
          <a:noFill/>
          <a:ln/>
        </p:spPr>
        <p:txBody>
          <a:bodyPr wrap="square" lIns="0" tIns="0" rIns="0" bIns="0" rtlCol="0" anchor="t"/>
          <a:lstStyle/>
          <a:p>
            <a:pPr indent="0" marL="0">
              <a:buNone/>
            </a:pPr>
            <a:r>
              <a:rPr lang="en-US" sz="1500" b="1" dirty="0">
                <a:solidFill>
                  <a:schemeClr val="tx2"/>
                </a:solidFill>
              </a:rPr>
              <a:t>Full text</a:t>
            </a:r>
            <a:pPr indent="0" marL="0">
              <a:buNone/>
            </a:pPr>
            <a:r>
              <a:rPr lang="en-US" sz="1500" dirty="0">
                <a:solidFill>
                  <a:schemeClr val="tx2"/>
                </a:solidFill>
              </a:rPr>
              <a:t>: the detector itself (E1)</a:t>
            </a:r>
            <a:endParaRPr lang="en-US" sz="1500" dirty="0"/>
          </a:p>
        </p:txBody>
      </p:sp>
      <p:sp>
        <p:nvSpPr>
          <p:cNvPr id="7" name="Probe card 2"/>
          <p:cNvSpPr/>
          <p:nvPr/>
        </p:nvSpPr>
        <p:spPr>
          <a:xfrm>
            <a:off x="6291072" y="1691640"/>
            <a:ext cx="5212080" cy="1691640"/>
          </a:xfrm>
          <a:prstGeom prst="roundRect">
            <a:avLst>
              <a:gd name="adj" fmla="val 6486"/>
            </a:avLst>
          </a:prstGeom>
          <a:solidFill>
            <a:srgbClr val="FFFFFF"/>
          </a:solidFill>
          <a:ln w="9525">
            <a:solidFill>
              <a:srgbClr val="DCD9D0"/>
            </a:solidFill>
            <a:prstDash val="solid"/>
          </a:ln>
        </p:spPr>
      </p:sp>
      <p:sp>
        <p:nvSpPr>
          <p:cNvPr id="8" name="Text 6"/>
          <p:cNvSpPr txBox="1"/>
          <p:nvPr/>
        </p:nvSpPr>
        <p:spPr>
          <a:xfrm>
            <a:off x="6611112" y="1874520"/>
            <a:ext cx="457200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99.1%</a:t>
            </a:r>
            <a:endParaRPr lang="en-US" sz="4800" dirty="0"/>
          </a:p>
        </p:txBody>
      </p:sp>
      <p:sp>
        <p:nvSpPr>
          <p:cNvPr id="9" name="Text 7"/>
          <p:cNvSpPr txBox="1"/>
          <p:nvPr/>
        </p:nvSpPr>
        <p:spPr>
          <a:xfrm>
            <a:off x="6611112" y="2697480"/>
            <a:ext cx="4572000" cy="548640"/>
          </a:xfrm>
          <a:prstGeom prst="rect">
            <a:avLst/>
          </a:prstGeom>
          <a:noFill/>
          <a:ln/>
        </p:spPr>
        <p:txBody>
          <a:bodyPr wrap="square" lIns="0" tIns="0" rIns="0" bIns="0" rtlCol="0" anchor="t"/>
          <a:lstStyle/>
          <a:p>
            <a:pPr indent="0" marL="0">
              <a:buNone/>
            </a:pPr>
            <a:r>
              <a:rPr lang="en-US" sz="1500" b="1" dirty="0">
                <a:solidFill>
                  <a:schemeClr val="tx2"/>
                </a:solidFill>
              </a:rPr>
              <a:t>First sentence only</a:t>
            </a:r>
            <a:pPr indent="0" marL="0">
              <a:buNone/>
            </a:pPr>
            <a:r>
              <a:rPr lang="en-US" sz="1500" dirty="0">
                <a:solidFill>
                  <a:schemeClr val="tx2"/>
                </a:solidFill>
              </a:rPr>
              <a:t>: higher than the full article (E2a)</a:t>
            </a:r>
            <a:endParaRPr lang="en-US" sz="1500" dirty="0"/>
          </a:p>
        </p:txBody>
      </p:sp>
      <p:sp>
        <p:nvSpPr>
          <p:cNvPr id="10" name="Probe card 3"/>
          <p:cNvSpPr/>
          <p:nvPr/>
        </p:nvSpPr>
        <p:spPr>
          <a:xfrm>
            <a:off x="685800" y="3611880"/>
            <a:ext cx="5212080" cy="1691640"/>
          </a:xfrm>
          <a:prstGeom prst="roundRect">
            <a:avLst>
              <a:gd name="adj" fmla="val 6486"/>
            </a:avLst>
          </a:prstGeom>
          <a:solidFill>
            <a:srgbClr val="FFFFFF"/>
          </a:solidFill>
          <a:ln w="9525">
            <a:solidFill>
              <a:srgbClr val="DCD9D0"/>
            </a:solidFill>
            <a:prstDash val="solid"/>
          </a:ln>
        </p:spPr>
      </p:sp>
      <p:sp>
        <p:nvSpPr>
          <p:cNvPr id="11" name="Text 9"/>
          <p:cNvSpPr txBox="1"/>
          <p:nvPr/>
        </p:nvSpPr>
        <p:spPr>
          <a:xfrm>
            <a:off x="1005840" y="3794760"/>
            <a:ext cx="457200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96.8%</a:t>
            </a:r>
            <a:endParaRPr lang="en-US" sz="4800" dirty="0"/>
          </a:p>
        </p:txBody>
      </p:sp>
      <p:sp>
        <p:nvSpPr>
          <p:cNvPr id="12" name="Text 10"/>
          <p:cNvSpPr txBox="1"/>
          <p:nvPr/>
        </p:nvSpPr>
        <p:spPr>
          <a:xfrm>
            <a:off x="1005840" y="4617720"/>
            <a:ext cx="4572000" cy="548640"/>
          </a:xfrm>
          <a:prstGeom prst="rect">
            <a:avLst/>
          </a:prstGeom>
          <a:noFill/>
          <a:ln/>
        </p:spPr>
        <p:txBody>
          <a:bodyPr wrap="square" lIns="0" tIns="0" rIns="0" bIns="0" rtlCol="0" anchor="t"/>
          <a:lstStyle/>
          <a:p>
            <a:pPr indent="0" marL="0">
              <a:buNone/>
            </a:pPr>
            <a:r>
              <a:rPr lang="en-US" sz="1500" b="1" dirty="0">
                <a:solidFill>
                  <a:schemeClr val="tx2"/>
                </a:solidFill>
              </a:rPr>
              <a:t>Function words only</a:t>
            </a:r>
            <a:pPr indent="0" marL="0">
              <a:buNone/>
            </a:pPr>
            <a:r>
              <a:rPr lang="en-US" sz="1500" dirty="0">
                <a:solidFill>
                  <a:schemeClr val="tx2"/>
                </a:solidFill>
              </a:rPr>
              <a:t>: “the of a and to , the -” (E2b)</a:t>
            </a:r>
            <a:endParaRPr lang="en-US" sz="1500" dirty="0"/>
          </a:p>
        </p:txBody>
      </p:sp>
      <p:sp>
        <p:nvSpPr>
          <p:cNvPr id="13" name="Probe card 4"/>
          <p:cNvSpPr/>
          <p:nvPr/>
        </p:nvSpPr>
        <p:spPr>
          <a:xfrm>
            <a:off x="6291072" y="3611880"/>
            <a:ext cx="5212080" cy="1691640"/>
          </a:xfrm>
          <a:prstGeom prst="roundRect">
            <a:avLst>
              <a:gd name="adj" fmla="val 6486"/>
            </a:avLst>
          </a:prstGeom>
          <a:solidFill>
            <a:srgbClr val="FFFFFF"/>
          </a:solidFill>
          <a:ln w="9525">
            <a:solidFill>
              <a:srgbClr val="DCD9D0"/>
            </a:solidFill>
            <a:prstDash val="solid"/>
          </a:ln>
        </p:spPr>
      </p:sp>
      <p:sp>
        <p:nvSpPr>
          <p:cNvPr id="14" name="Text 12"/>
          <p:cNvSpPr txBox="1"/>
          <p:nvPr/>
        </p:nvSpPr>
        <p:spPr>
          <a:xfrm>
            <a:off x="6611112" y="3794760"/>
            <a:ext cx="4572000" cy="777240"/>
          </a:xfrm>
          <a:prstGeom prst="rect">
            <a:avLst/>
          </a:prstGeom>
          <a:noFill/>
          <a:ln/>
        </p:spPr>
        <p:txBody>
          <a:bodyPr wrap="square" lIns="0" tIns="0" rIns="0" bIns="0" rtlCol="0" anchor="t"/>
          <a:lstStyle/>
          <a:p>
            <a:pPr indent="0" marL="0">
              <a:buNone/>
            </a:pPr>
            <a:r>
              <a:rPr lang="en-US" sz="4800" b="1" dirty="0">
                <a:solidFill>
                  <a:schemeClr val="accent1"/>
                </a:solidFill>
                <a:latin typeface="Cambria" pitchFamily="34" charset="0"/>
                <a:ea typeface="Cambria" pitchFamily="34" charset="-122"/>
                <a:cs typeface="Cambria" pitchFamily="34" charset="-120"/>
              </a:rPr>
              <a:t>86.2%</a:t>
            </a:r>
            <a:endParaRPr lang="en-US" sz="4800" dirty="0"/>
          </a:p>
        </p:txBody>
      </p:sp>
      <p:sp>
        <p:nvSpPr>
          <p:cNvPr id="15" name="Text 13"/>
          <p:cNvSpPr txBox="1"/>
          <p:nvPr/>
        </p:nvSpPr>
        <p:spPr>
          <a:xfrm>
            <a:off x="6611112" y="4617720"/>
            <a:ext cx="4572000" cy="548640"/>
          </a:xfrm>
          <a:prstGeom prst="rect">
            <a:avLst/>
          </a:prstGeom>
          <a:noFill/>
          <a:ln/>
        </p:spPr>
        <p:txBody>
          <a:bodyPr wrap="square" lIns="0" tIns="0" rIns="0" bIns="0" rtlCol="0" anchor="t"/>
          <a:lstStyle/>
          <a:p>
            <a:pPr indent="0" marL="0">
              <a:buNone/>
            </a:pPr>
            <a:r>
              <a:rPr lang="en-US" sz="1500" b="1" dirty="0">
                <a:solidFill>
                  <a:schemeClr val="tx2"/>
                </a:solidFill>
              </a:rPr>
              <a:t>Eight numbers, no words</a:t>
            </a:r>
            <a:pPr indent="0" marL="0">
              <a:buNone/>
            </a:pPr>
            <a:r>
              <a:rPr lang="en-US" sz="1500" dirty="0">
                <a:solidFill>
                  <a:schemeClr val="tx2"/>
                </a:solidFill>
              </a:rPr>
              <a:t>: length, “?”, “!”, capitals (E2c)</a:t>
            </a:r>
            <a:endParaRPr lang="en-US" sz="1500" dirty="0"/>
          </a:p>
        </p:txBody>
      </p:sp>
      <p:sp>
        <p:nvSpPr>
          <p:cNvPr id="16" name="Chance note"/>
          <p:cNvSpPr txBox="1"/>
          <p:nvPr/>
        </p:nvSpPr>
        <p:spPr>
          <a:xfrm>
            <a:off x="685800" y="5532120"/>
            <a:ext cx="10817352" cy="411480"/>
          </a:xfrm>
          <a:prstGeom prst="rect">
            <a:avLst/>
          </a:prstGeom>
          <a:noFill/>
          <a:ln/>
        </p:spPr>
        <p:txBody>
          <a:bodyPr wrap="square" lIns="0" tIns="0" rIns="0" bIns="0" rtlCol="0" anchor="t"/>
          <a:lstStyle/>
          <a:p>
            <a:pPr indent="0" marL="0">
              <a:buNone/>
            </a:pPr>
            <a:r>
              <a:rPr lang="en-US" sz="1600" dirty="0">
                <a:solidFill>
                  <a:schemeClr val="tx2"/>
                </a:solidFill>
              </a:rPr>
              <a:t>Chance (always guessing the larger class) is </a:t>
            </a:r>
            <a:pPr indent="0" marL="0">
              <a:buNone/>
            </a:pPr>
            <a:r>
              <a:rPr lang="en-US" sz="1600" b="1" dirty="0">
                <a:solidFill>
                  <a:schemeClr val="tx2"/>
                </a:solidFill>
              </a:rPr>
              <a:t>54.8%</a:t>
            </a:r>
            <a:pPr indent="0" marL="0">
              <a:buNone/>
            </a:pPr>
            <a:r>
              <a:rPr lang="en-US" sz="1600" dirty="0">
                <a:solidFill>
                  <a:schemeClr val="tx2"/>
                </a:solidFill>
              </a:rPr>
              <a:t>. Every probe is far above it.</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EVIDENCE 2 · WHAT THE DETECTOR LEARNED</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Its strongest clues name the publisher</a:t>
            </a:r>
            <a:endParaRPr lang="en-US" sz="3400" dirty="0"/>
          </a:p>
        </p:txBody>
      </p:sp>
      <p:sp>
        <p:nvSpPr>
          <p:cNvPr id="4" name="Chart frame"/>
          <p:cNvSpPr/>
          <p:nvPr/>
        </p:nvSpPr>
        <p:spPr>
          <a:xfrm>
            <a:off x="685800" y="1691640"/>
            <a:ext cx="7589520" cy="4288536"/>
          </a:xfrm>
          <a:prstGeom prst="roundRect">
            <a:avLst>
              <a:gd name="adj" fmla="val 2559"/>
            </a:avLst>
          </a:prstGeom>
          <a:solidFill>
            <a:srgbClr val="FFFFFF"/>
          </a:solidFill>
          <a:ln w="9525">
            <a:solidFill>
              <a:srgbClr val="DCD9D0"/>
            </a:solidFill>
            <a:prstDash val="solid"/>
          </a:ln>
        </p:spPr>
      </p:sp>
      <p:pic>
        <p:nvPicPr>
          <p:cNvPr id="5" name="Token chart" descr="The 15 strongest logistic regression words per class. Predicting real: reuters, said, on, washington and weekday names. Predicting fake: via, video, this, us, just, image, featured, read. Source and page-furniture markers are highlighted in orange.">    </p:cNvPr>
          <p:cNvPicPr>
            <a:picLocks noChangeAspect="1"/>
          </p:cNvPicPr>
          <p:nvPr/>
        </p:nvPicPr>
        <p:blipFill>
          <a:blip r:embed="rId1"/>
          <a:stretch>
            <a:fillRect/>
          </a:stretch>
        </p:blipFill>
        <p:spPr>
          <a:xfrm>
            <a:off x="731520" y="1719072"/>
            <a:ext cx="7498080" cy="4191988"/>
          </a:xfrm>
          <a:prstGeom prst="rect">
            <a:avLst/>
          </a:prstGeom>
        </p:spPr>
      </p:pic>
      <p:sp>
        <p:nvSpPr>
          <p:cNvPr id="6" name="Token notes"/>
          <p:cNvSpPr txBox="1"/>
          <p:nvPr/>
        </p:nvSpPr>
        <p:spPr>
          <a:xfrm>
            <a:off x="8549640" y="1783080"/>
            <a:ext cx="2953512" cy="4023360"/>
          </a:xfrm>
          <a:prstGeom prst="rect">
            <a:avLst/>
          </a:prstGeom>
          <a:noFill/>
          <a:ln/>
        </p:spPr>
        <p:txBody>
          <a:bodyPr wrap="square" lIns="0" tIns="0" rIns="0" bIns="0" rtlCol="0" anchor="t"/>
          <a:lstStyle/>
          <a:p>
            <a:pPr indent="0" marL="0">
              <a:spcAft>
                <a:spcPts val="1400"/>
              </a:spcAft>
              <a:buNone/>
            </a:pPr>
            <a:r>
              <a:rPr lang="en-US" sz="1600" b="1" dirty="0">
                <a:solidFill>
                  <a:schemeClr val="accent2"/>
                </a:solidFill>
              </a:rPr>
              <a:t>Orange bars</a:t>
            </a:r>
            <a:pPr indent="0" marL="0">
              <a:spcAft>
                <a:spcPts val="1400"/>
              </a:spcAft>
              <a:buNone/>
            </a:pPr>
            <a:r>
              <a:rPr lang="en-US" sz="1600" dirty="0">
                <a:solidFill>
                  <a:schemeClr val="tx1"/>
                </a:solidFill>
              </a:rPr>
              <a:t> are source and page-clutter markers.</a:t>
            </a:r>
            <a:endParaRPr lang="en-US" sz="1600" dirty="0"/>
          </a:p>
          <a:p>
            <a:pPr indent="0" marL="0">
              <a:spcAft>
                <a:spcPts val="1400"/>
              </a:spcAft>
              <a:buNone/>
            </a:pPr>
            <a:r>
              <a:rPr lang="en-US" sz="1600" dirty="0">
                <a:solidFill>
                  <a:schemeClr val="tx2"/>
                </a:solidFill>
              </a:rPr>
              <a:t>Real: “reuters”, “washington”, weekdays, “said”.</a:t>
            </a:r>
            <a:endParaRPr lang="en-US" sz="1600" dirty="0"/>
          </a:p>
          <a:p>
            <a:pPr indent="0" marL="0">
              <a:spcAft>
                <a:spcPts val="1400"/>
              </a:spcAft>
              <a:buNone/>
            </a:pPr>
            <a:r>
              <a:rPr lang="en-US" sz="1600" dirty="0">
                <a:solidFill>
                  <a:schemeClr val="tx2"/>
                </a:solidFill>
              </a:rPr>
              <a:t>Fake: “via”, “image”, “featured”, “video”, “read”.</a:t>
            </a:r>
            <a:endParaRPr lang="en-US" sz="1600" dirty="0"/>
          </a:p>
          <a:p>
            <a:pPr indent="0" marL="0">
              <a:spcAft>
                <a:spcPts val="1400"/>
              </a:spcAft>
              <a:buNone/>
            </a:pPr>
            <a:r>
              <a:rPr lang="en-US" sz="1600" b="1" dirty="0">
                <a:solidFill>
                  <a:schemeClr val="tx1"/>
                </a:solidFill>
              </a:rPr>
              <a:t>Who wrote it, not whether it is true.</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EVIDENCE 3 · REMOVE THE GIVEAWAYS</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Strip every marker from both classes: 97.3%</a:t>
            </a:r>
            <a:endParaRPr lang="en-US" sz="3400" dirty="0"/>
          </a:p>
        </p:txBody>
      </p:sp>
      <p:sp>
        <p:nvSpPr>
          <p:cNvPr id="4" name="Text 2"/>
          <p:cNvSpPr txBox="1"/>
          <p:nvPr/>
        </p:nvSpPr>
        <p:spPr>
          <a:xfrm>
            <a:off x="685800" y="1691640"/>
            <a:ext cx="5394960" cy="365760"/>
          </a:xfrm>
          <a:prstGeom prst="rect">
            <a:avLst/>
          </a:prstGeom>
          <a:noFill/>
          <a:ln/>
        </p:spPr>
        <p:txBody>
          <a:bodyPr wrap="square" lIns="0" tIns="0" rIns="0" bIns="0" rtlCol="0" anchor="t"/>
          <a:lstStyle/>
          <a:p>
            <a:pPr indent="0" marL="0">
              <a:buNone/>
            </a:pPr>
            <a:r>
              <a:rPr lang="en-US" sz="1800" b="1" dirty="0">
                <a:solidFill>
                  <a:schemeClr val="tx1"/>
                </a:solidFill>
              </a:rPr>
              <a:t>Accuracy as markers are removed</a:t>
            </a:r>
            <a:endParaRPr lang="en-US" sz="1800" dirty="0"/>
          </a:p>
        </p:txBody>
      </p:sp>
      <p:graphicFrame>
        <p:nvGraphicFramePr>
          <p:cNvPr id="8" name="Stripping table"/>
          <p:cNvGraphicFramePr>
            <a:graphicFrameLocks noGrp="1"/>
          </p:cNvGraphicFramePr>
          <p:nvPr>
            <p:extLst>
              <p:ext uri="{D42A27DB-BD31-4B8C-83A1-F6EECF244321}">
                <p14:modId xmlns:p14="http://schemas.microsoft.com/office/powerpoint/2010/main" val="1579011935"/>
              </p:ext>
            </p:extLst>
          </p:nvPr>
        </p:nvGraphicFramePr>
        <p:xfrm>
          <a:off x="685800" y="2148840"/>
          <a:ext cx="5394960" cy="914400"/>
        </p:xfrm>
        <a:graphic>
          <a:graphicData uri="http://schemas.openxmlformats.org/drawingml/2006/table">
            <a:tbl>
              <a:tblPr/>
              <a:tblGrid>
                <a:gridCol w="4114800"/>
                <a:gridCol w="1280160"/>
              </a:tblGrid>
              <a:tr h="438912">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Condition</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ECEAE3"/>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Accuracy</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ECEAE3"/>
                    </a:solidFill>
                  </a:tcPr>
                </a:tc>
              </a:tr>
              <a:tr h="438912">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Full text (E1)</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98.4%</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Dateline, lead and “Reuters” removed (E3)</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97.7%</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 credits, links, tags, quote marks (E3b)</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97.3%</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r h="438912">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Stripped, function words only (E3c)</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90.7%</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6400800" y="1691640"/>
            <a:ext cx="5102352" cy="365760"/>
          </a:xfrm>
          <a:prstGeom prst="rect">
            <a:avLst/>
          </a:prstGeom>
          <a:noFill/>
          <a:ln/>
        </p:spPr>
        <p:txBody>
          <a:bodyPr wrap="square" lIns="0" tIns="0" rIns="0" bIns="0" rtlCol="0" anchor="t"/>
          <a:lstStyle/>
          <a:p>
            <a:pPr indent="0" marL="0">
              <a:buNone/>
            </a:pPr>
            <a:r>
              <a:rPr lang="en-US" sz="1800" b="1" dirty="0">
                <a:solidFill>
                  <a:schemeClr val="tx1"/>
                </a:solidFill>
              </a:rPr>
              <a:t>What still separates the classes</a:t>
            </a:r>
            <a:endParaRPr lang="en-US" sz="1800" dirty="0"/>
          </a:p>
        </p:txBody>
      </p:sp>
      <p:sp>
        <p:nvSpPr>
          <p:cNvPr id="7" name="Register card 1"/>
          <p:cNvSpPr/>
          <p:nvPr/>
        </p:nvSpPr>
        <p:spPr>
          <a:xfrm>
            <a:off x="6400800" y="2148840"/>
            <a:ext cx="5102352" cy="1143000"/>
          </a:xfrm>
          <a:prstGeom prst="roundRect">
            <a:avLst>
              <a:gd name="adj" fmla="val 9600"/>
            </a:avLst>
          </a:prstGeom>
          <a:solidFill>
            <a:srgbClr val="FFFFFF"/>
          </a:solidFill>
          <a:ln w="9525">
            <a:solidFill>
              <a:srgbClr val="DCD9D0"/>
            </a:solidFill>
            <a:prstDash val="solid"/>
          </a:ln>
        </p:spPr>
      </p:sp>
      <p:sp>
        <p:nvSpPr>
          <p:cNvPr id="8" name="Text 5"/>
          <p:cNvSpPr txBox="1"/>
          <p:nvPr/>
        </p:nvSpPr>
        <p:spPr>
          <a:xfrm>
            <a:off x="6675120" y="2331720"/>
            <a:ext cx="4572000" cy="274320"/>
          </a:xfrm>
          <a:prstGeom prst="rect">
            <a:avLst/>
          </a:prstGeom>
          <a:noFill/>
          <a:ln/>
        </p:spPr>
        <p:txBody>
          <a:bodyPr wrap="square" lIns="0" tIns="0" rIns="0" bIns="0" rtlCol="0" anchor="t"/>
          <a:lstStyle/>
          <a:p>
            <a:pPr indent="0" marL="0">
              <a:buNone/>
            </a:pPr>
            <a:r>
              <a:rPr lang="en-US" sz="1200" b="1" spc="200" kern="0" dirty="0">
                <a:solidFill>
                  <a:schemeClr val="accent3"/>
                </a:solidFill>
              </a:rPr>
              <a:t>REAL: WIRE REPORTING</a:t>
            </a:r>
            <a:endParaRPr lang="en-US" sz="1200" dirty="0"/>
          </a:p>
        </p:txBody>
      </p:sp>
      <p:sp>
        <p:nvSpPr>
          <p:cNvPr id="9" name="Text 6"/>
          <p:cNvSpPr txBox="1"/>
          <p:nvPr/>
        </p:nvSpPr>
        <p:spPr>
          <a:xfrm>
            <a:off x="6675120" y="2679192"/>
            <a:ext cx="4572000" cy="457200"/>
          </a:xfrm>
          <a:prstGeom prst="rect">
            <a:avLst/>
          </a:prstGeom>
          <a:noFill/>
          <a:ln/>
        </p:spPr>
        <p:txBody>
          <a:bodyPr wrap="square" lIns="0" tIns="0" rIns="0" bIns="0" rtlCol="0" anchor="t"/>
          <a:lstStyle/>
          <a:p>
            <a:pPr indent="0" marL="0">
              <a:buNone/>
            </a:pPr>
            <a:r>
              <a:rPr lang="en-US" sz="1800" dirty="0">
                <a:solidFill>
                  <a:schemeClr val="tx1"/>
                </a:solidFill>
              </a:rPr>
              <a:t>said · told · reporters · spokesman · would</a:t>
            </a:r>
            <a:endParaRPr lang="en-US" sz="1800" dirty="0"/>
          </a:p>
        </p:txBody>
      </p:sp>
      <p:sp>
        <p:nvSpPr>
          <p:cNvPr id="10" name="Register card 2"/>
          <p:cNvSpPr/>
          <p:nvPr/>
        </p:nvSpPr>
        <p:spPr>
          <a:xfrm>
            <a:off x="6400800" y="3474720"/>
            <a:ext cx="5102352" cy="1143000"/>
          </a:xfrm>
          <a:prstGeom prst="roundRect">
            <a:avLst>
              <a:gd name="adj" fmla="val 9600"/>
            </a:avLst>
          </a:prstGeom>
          <a:solidFill>
            <a:srgbClr val="FFFFFF"/>
          </a:solidFill>
          <a:ln w="9525">
            <a:solidFill>
              <a:srgbClr val="DCD9D0"/>
            </a:solidFill>
            <a:prstDash val="solid"/>
          </a:ln>
        </p:spPr>
      </p:sp>
      <p:sp>
        <p:nvSpPr>
          <p:cNvPr id="11" name="Text 8"/>
          <p:cNvSpPr txBox="1"/>
          <p:nvPr/>
        </p:nvSpPr>
        <p:spPr>
          <a:xfrm>
            <a:off x="6675120" y="3657600"/>
            <a:ext cx="4572000" cy="274320"/>
          </a:xfrm>
          <a:prstGeom prst="rect">
            <a:avLst/>
          </a:prstGeom>
          <a:noFill/>
          <a:ln/>
        </p:spPr>
        <p:txBody>
          <a:bodyPr wrap="square" lIns="0" tIns="0" rIns="0" bIns="0" rtlCol="0" anchor="t"/>
          <a:lstStyle/>
          <a:p>
            <a:pPr indent="0" marL="0">
              <a:buNone/>
            </a:pPr>
            <a:r>
              <a:rPr lang="en-US" sz="1200" b="1" spc="200" kern="0" dirty="0">
                <a:solidFill>
                  <a:schemeClr val="accent2"/>
                </a:solidFill>
              </a:rPr>
              <a:t>FAKE: BLOG VOICE</a:t>
            </a:r>
            <a:endParaRPr lang="en-US" sz="1200" dirty="0"/>
          </a:p>
        </p:txBody>
      </p:sp>
      <p:sp>
        <p:nvSpPr>
          <p:cNvPr id="12" name="Text 9"/>
          <p:cNvSpPr txBox="1"/>
          <p:nvPr/>
        </p:nvSpPr>
        <p:spPr>
          <a:xfrm>
            <a:off x="6675120" y="4005072"/>
            <a:ext cx="4572000" cy="457200"/>
          </a:xfrm>
          <a:prstGeom prst="rect">
            <a:avLst/>
          </a:prstGeom>
          <a:noFill/>
          <a:ln/>
        </p:spPr>
        <p:txBody>
          <a:bodyPr wrap="square" lIns="0" tIns="0" rIns="0" bIns="0" rtlCol="0" anchor="t"/>
          <a:lstStyle/>
          <a:p>
            <a:pPr indent="0" marL="0">
              <a:buNone/>
            </a:pPr>
            <a:r>
              <a:rPr lang="en-US" sz="1800" dirty="0">
                <a:solidFill>
                  <a:schemeClr val="tx1"/>
                </a:solidFill>
              </a:rPr>
              <a:t>this · just · you · here · ! · ?</a:t>
            </a:r>
            <a:endParaRPr lang="en-US" sz="1800" dirty="0"/>
          </a:p>
        </p:txBody>
      </p:sp>
      <p:sp>
        <p:nvSpPr>
          <p:cNvPr id="13" name="Takeaway"/>
          <p:cNvSpPr txBox="1"/>
          <p:nvPr/>
        </p:nvSpPr>
        <p:spPr>
          <a:xfrm>
            <a:off x="685800" y="4846320"/>
            <a:ext cx="10817352" cy="411480"/>
          </a:xfrm>
          <a:prstGeom prst="rect">
            <a:avLst/>
          </a:prstGeom>
          <a:noFill/>
          <a:ln/>
        </p:spPr>
        <p:txBody>
          <a:bodyPr wrap="square" lIns="0" tIns="0" rIns="0" bIns="0" rtlCol="0" anchor="t"/>
          <a:lstStyle/>
          <a:p>
            <a:pPr indent="0" marL="0">
              <a:buNone/>
            </a:pPr>
            <a:r>
              <a:rPr lang="en-US" sz="1600" dirty="0">
                <a:solidFill>
                  <a:schemeClr val="tx2"/>
                </a:solidFill>
              </a:rPr>
              <a:t>The source is not in a few words. It runs through the whole writing style.</a:t>
            </a:r>
            <a:endParaRPr lang="en-US" sz="16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CHECKS · TOPIC AND CLASSIFIER</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Not the topic, and not the classifier</a:t>
            </a:r>
            <a:endParaRPr lang="en-US" sz="3400" dirty="0"/>
          </a:p>
        </p:txBody>
      </p:sp>
      <p:sp>
        <p:nvSpPr>
          <p:cNvPr id="4" name="Topic card"/>
          <p:cNvSpPr/>
          <p:nvPr/>
        </p:nvSpPr>
        <p:spPr>
          <a:xfrm>
            <a:off x="685800" y="1691640"/>
            <a:ext cx="5212080" cy="3520440"/>
          </a:xfrm>
          <a:prstGeom prst="roundRect">
            <a:avLst>
              <a:gd name="adj" fmla="val 3117"/>
            </a:avLst>
          </a:prstGeom>
          <a:solidFill>
            <a:srgbClr val="FFFFFF"/>
          </a:solidFill>
          <a:ln w="9525">
            <a:solidFill>
              <a:srgbClr val="DCD9D0"/>
            </a:solidFill>
            <a:prstDash val="solid"/>
          </a:ln>
        </p:spPr>
      </p:sp>
      <p:sp>
        <p:nvSpPr>
          <p:cNvPr id="5" name="Text 3"/>
          <p:cNvSpPr txBox="1"/>
          <p:nvPr/>
        </p:nvSpPr>
        <p:spPr>
          <a:xfrm>
            <a:off x="1005840" y="19202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Topic: US politics only, both classes</a:t>
            </a:r>
            <a:endParaRPr lang="en-US" sz="1800" dirty="0"/>
          </a:p>
        </p:txBody>
      </p:sp>
      <p:sp>
        <p:nvSpPr>
          <p:cNvPr id="6" name="Text 4"/>
          <p:cNvSpPr txBox="1"/>
          <p:nvPr/>
        </p:nvSpPr>
        <p:spPr>
          <a:xfrm>
            <a:off x="1005840" y="2377440"/>
            <a:ext cx="4572000" cy="914400"/>
          </a:xfrm>
          <a:prstGeom prst="rect">
            <a:avLst/>
          </a:prstGeom>
          <a:noFill/>
          <a:ln/>
        </p:spPr>
        <p:txBody>
          <a:bodyPr wrap="square" lIns="0" tIns="0" rIns="0" bIns="0" rtlCol="0" anchor="t"/>
          <a:lstStyle/>
          <a:p>
            <a:pPr indent="0" marL="0">
              <a:buNone/>
            </a:pPr>
            <a:r>
              <a:rPr lang="en-US" sz="5600" b="1" dirty="0">
                <a:solidFill>
                  <a:schemeClr val="accent1"/>
                </a:solidFill>
                <a:latin typeface="Cambria" pitchFamily="34" charset="0"/>
                <a:ea typeface="Cambria" pitchFamily="34" charset="-122"/>
                <a:cs typeface="Cambria" pitchFamily="34" charset="-120"/>
              </a:rPr>
              <a:t>90.3%</a:t>
            </a:r>
            <a:endParaRPr lang="en-US" sz="5600" dirty="0"/>
          </a:p>
        </p:txBody>
      </p:sp>
      <p:sp>
        <p:nvSpPr>
          <p:cNvPr id="7" name="Text 5"/>
          <p:cNvSpPr txBox="1"/>
          <p:nvPr/>
        </p:nvSpPr>
        <p:spPr>
          <a:xfrm>
            <a:off x="1005840" y="3429000"/>
            <a:ext cx="4572000" cy="1554480"/>
          </a:xfrm>
          <a:prstGeom prst="rect">
            <a:avLst/>
          </a:prstGeom>
          <a:noFill/>
          <a:ln/>
        </p:spPr>
        <p:txBody>
          <a:bodyPr wrap="square" lIns="0" tIns="0" rIns="0" bIns="0" rtlCol="0" anchor="t"/>
          <a:lstStyle/>
          <a:p>
            <a:pPr indent="0" marL="0">
              <a:spcAft>
                <a:spcPts val="1000"/>
              </a:spcAft>
              <a:buNone/>
            </a:pPr>
            <a:r>
              <a:rPr lang="en-US" sz="1500" dirty="0">
                <a:solidFill>
                  <a:schemeClr val="tx2"/>
                </a:solidFill>
              </a:rPr>
              <a:t>Every marker stripped, function words only (E5c), against </a:t>
            </a:r>
            <a:pPr indent="0" marL="0">
              <a:spcAft>
                <a:spcPts val="1000"/>
              </a:spcAft>
              <a:buNone/>
            </a:pPr>
            <a:r>
              <a:rPr lang="en-US" sz="1500" b="1" dirty="0">
                <a:solidFill>
                  <a:schemeClr val="tx2"/>
                </a:solidFill>
              </a:rPr>
              <a:t>60.9%</a:t>
            </a:r>
            <a:pPr indent="0" marL="0">
              <a:spcAft>
                <a:spcPts val="1000"/>
              </a:spcAft>
              <a:buNone/>
            </a:pPr>
            <a:r>
              <a:rPr lang="en-US" sz="1500" dirty="0">
                <a:solidFill>
                  <a:schemeClr val="tx2"/>
                </a:solidFill>
              </a:rPr>
              <a:t> chance on this subset.</a:t>
            </a:r>
            <a:endParaRPr lang="en-US" sz="1500" dirty="0"/>
          </a:p>
          <a:p>
            <a:pPr indent="0" marL="0">
              <a:spcAft>
                <a:spcPts val="1000"/>
              </a:spcAft>
              <a:buNone/>
            </a:pPr>
            <a:r>
              <a:rPr lang="en-US" sz="1500" dirty="0">
                <a:solidFill>
                  <a:schemeClr val="tx2"/>
                </a:solidFill>
              </a:rPr>
              <a:t>Real world-news articles removed, so topic cannot separate the classes.</a:t>
            </a:r>
            <a:endParaRPr lang="en-US" sz="1500" dirty="0"/>
          </a:p>
        </p:txBody>
      </p:sp>
      <p:sp>
        <p:nvSpPr>
          <p:cNvPr id="8" name="Classifier card"/>
          <p:cNvSpPr/>
          <p:nvPr/>
        </p:nvSpPr>
        <p:spPr>
          <a:xfrm>
            <a:off x="6291072" y="1691640"/>
            <a:ext cx="5212080" cy="3520440"/>
          </a:xfrm>
          <a:prstGeom prst="roundRect">
            <a:avLst>
              <a:gd name="adj" fmla="val 3117"/>
            </a:avLst>
          </a:prstGeom>
          <a:solidFill>
            <a:srgbClr val="FFFFFF"/>
          </a:solidFill>
          <a:ln w="9525">
            <a:solidFill>
              <a:srgbClr val="DCD9D0"/>
            </a:solidFill>
            <a:prstDash val="solid"/>
          </a:ln>
        </p:spPr>
      </p:sp>
      <p:sp>
        <p:nvSpPr>
          <p:cNvPr id="9" name="Text 7"/>
          <p:cNvSpPr txBox="1"/>
          <p:nvPr/>
        </p:nvSpPr>
        <p:spPr>
          <a:xfrm>
            <a:off x="6611112" y="19202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Classifier: linear SVM instead</a:t>
            </a:r>
            <a:endParaRPr lang="en-US" sz="1800" dirty="0"/>
          </a:p>
        </p:txBody>
      </p:sp>
      <p:graphicFrame>
        <p:nvGraphicFramePr>
          <p:cNvPr id="9" name="SVM table"/>
          <p:cNvGraphicFramePr>
            <a:graphicFrameLocks noGrp="1"/>
          </p:cNvGraphicFramePr>
          <p:nvPr>
            <p:extLst>
              <p:ext uri="{D42A27DB-BD31-4B8C-83A1-F6EECF244321}">
                <p14:modId xmlns:p14="http://schemas.microsoft.com/office/powerpoint/2010/main" val="1579011935"/>
              </p:ext>
            </p:extLst>
          </p:nvPr>
        </p:nvGraphicFramePr>
        <p:xfrm>
          <a:off x="6611112" y="2423160"/>
          <a:ext cx="4572000" cy="914400"/>
        </p:xfrm>
        <a:graphic>
          <a:graphicData uri="http://schemas.openxmlformats.org/drawingml/2006/table">
            <a:tbl>
              <a:tblPr/>
              <a:tblGrid>
                <a:gridCol w="2194560"/>
                <a:gridCol w="1188720"/>
                <a:gridCol w="1188720"/>
              </a:tblGrid>
              <a:tr h="420624">
                <a:tc>
                  <a:txBody>
                    <a:bodyPr/>
                    <a:lstStyle/>
                    <a:p>
                      <a:pPr algn="l" indent="0" marL="0">
                        <a:buNone/>
                      </a:pPr>
                      <a:r>
                        <a:rPr lang="en-US" sz="1500" b="1" dirty="0">
                          <a:solidFill>
                            <a:schemeClr val="tx1"/>
                          </a:solidFill>
                          <a:latin typeface="Calibri" pitchFamily="34" charset="0"/>
                          <a:ea typeface="Calibri" pitchFamily="34" charset="-122"/>
                          <a:cs typeface="Calibri" pitchFamily="34" charset="-120"/>
                        </a:rPr>
                        <a:t>Input</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ECEAE3"/>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Log. reg.</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ECEAE3"/>
                    </a:solidFill>
                  </a:tcPr>
                </a:tc>
                <a:tc>
                  <a:txBody>
                    <a:bodyPr/>
                    <a:lstStyle/>
                    <a:p>
                      <a:pPr algn="r" indent="0" marL="0">
                        <a:buNone/>
                      </a:pPr>
                      <a:r>
                        <a:rPr lang="en-US" sz="1500" b="1" dirty="0">
                          <a:solidFill>
                            <a:schemeClr val="tx1"/>
                          </a:solidFill>
                          <a:latin typeface="Calibri" pitchFamily="34" charset="0"/>
                          <a:ea typeface="Calibri" pitchFamily="34" charset="-122"/>
                          <a:cs typeface="Calibri" pitchFamily="34" charset="-120"/>
                        </a:rPr>
                        <a:t>SVM</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ECEAE3"/>
                    </a:solidFill>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Full text</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98.4%</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99.3%</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First sentence</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99.1%</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99.7%</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Function words</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96.8%</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97.5%</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chemeClr val="tx1"/>
                          </a:solidFill>
                          <a:latin typeface="Calibri" pitchFamily="34" charset="0"/>
                          <a:ea typeface="Calibri" pitchFamily="34" charset="-122"/>
                          <a:cs typeface="Calibri" pitchFamily="34" charset="-120"/>
                        </a:rPr>
                        <a:t>All stripped</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97.3%</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c>
                  <a:txBody>
                    <a:bodyPr/>
                    <a:lstStyle/>
                    <a:p>
                      <a:pPr algn="r" indent="0" marL="0">
                        <a:buNone/>
                      </a:pPr>
                      <a:r>
                        <a:rPr lang="en-US" sz="1500" dirty="0">
                          <a:solidFill>
                            <a:schemeClr val="tx1"/>
                          </a:solidFill>
                          <a:latin typeface="Calibri" pitchFamily="34" charset="0"/>
                          <a:ea typeface="Calibri" pitchFamily="34" charset="-122"/>
                          <a:cs typeface="Calibri" pitchFamily="34" charset="-120"/>
                        </a:rPr>
                        <a:t>98.1%</a:t>
                      </a:r>
                      <a:endParaRPr lang="en-US" sz="1500" dirty="0">
                        <a:latin typeface="Calibri" charset="0"/>
                        <a:ea typeface="Calibri" charset="0"/>
                        <a:cs typeface="Calibri" charset="0"/>
                      </a:endParaRPr>
                    </a:p>
                  </a:txBody>
                  <a:tcPr marL="73152" marR="73152" marT="73152" marB="73152">
                    <a:lnL w="9525" cap="flat" cmpd="sng" algn="ctr">
                      <a:solidFill>
                        <a:srgbClr val="DCD9D0"/>
                      </a:solidFill>
                      <a:prstDash val="solid"/>
                      <a:round/>
                      <a:headEnd type="none" w="med" len="med"/>
                      <a:tailEnd type="none" w="med" len="med"/>
                    </a:lnL>
                    <a:lnR w="9525" cap="flat" cmpd="sng" algn="ctr">
                      <a:solidFill>
                        <a:srgbClr val="DCD9D0"/>
                      </a:solidFill>
                      <a:prstDash val="solid"/>
                      <a:round/>
                      <a:headEnd type="none" w="med" len="med"/>
                      <a:tailEnd type="none" w="med" len="med"/>
                    </a:lnR>
                    <a:lnT w="9525" cap="flat" cmpd="sng" algn="ctr">
                      <a:solidFill>
                        <a:srgbClr val="DCD9D0"/>
                      </a:solidFill>
                      <a:prstDash val="solid"/>
                      <a:round/>
                      <a:headEnd type="none" w="med" len="med"/>
                      <a:tailEnd type="none" w="med" len="med"/>
                    </a:lnT>
                    <a:lnB w="9525" cap="flat" cmpd="sng" algn="ctr">
                      <a:solidFill>
                        <a:srgbClr val="DCD9D0"/>
                      </a:solidFill>
                      <a:prstDash val="solid"/>
                      <a:round/>
                      <a:headEnd type="none" w="med" len="med"/>
                      <a:tailEnd type="none" w="med" len="med"/>
                    </a:lnB>
                    <a:solidFill>
                      <a:srgbClr val="FFFFFF"/>
                    </a:solidFill>
                  </a:tcPr>
                </a:tc>
              </a:tr>
            </a:tbl>
          </a:graphicData>
        </a:graphic>
      </p:graphicFrame>
      <p:sp>
        <p:nvSpPr>
          <p:cNvPr id="11" name="Text 8"/>
          <p:cNvSpPr txBox="1"/>
          <p:nvPr/>
        </p:nvSpPr>
        <p:spPr>
          <a:xfrm>
            <a:off x="6611112" y="4572000"/>
            <a:ext cx="4572000" cy="457200"/>
          </a:xfrm>
          <a:prstGeom prst="rect">
            <a:avLst/>
          </a:prstGeom>
          <a:noFill/>
          <a:ln/>
        </p:spPr>
        <p:txBody>
          <a:bodyPr wrap="square" lIns="0" tIns="0" rIns="0" bIns="0" rtlCol="0" anchor="t"/>
          <a:lstStyle/>
          <a:p>
            <a:pPr indent="0" marL="0">
              <a:buNone/>
            </a:pPr>
            <a:r>
              <a:rPr lang="en-US" sz="1500" dirty="0">
                <a:solidFill>
                  <a:schemeClr val="tx2"/>
                </a:solidFill>
              </a:rPr>
              <a:t>A stronger model exploits the shortcut slightly </a:t>
            </a:r>
            <a:pPr indent="0" marL="0">
              <a:buNone/>
            </a:pPr>
            <a:r>
              <a:rPr lang="en-US" sz="1500" b="1" dirty="0">
                <a:solidFill>
                  <a:schemeClr val="tx2"/>
                </a:solidFill>
              </a:rPr>
              <a:t>more</a:t>
            </a:r>
            <a:pPr indent="0" marL="0">
              <a:buNone/>
            </a:pPr>
            <a:r>
              <a:rPr lang="en-US" sz="1500" dirty="0">
                <a:solidFill>
                  <a:schemeClr val="tx2"/>
                </a:solidFill>
              </a:rPr>
              <a:t>.</a:t>
            </a:r>
            <a:endParaRPr lang="en-US" sz="15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CHECKS · OTHER DATASETS</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On other datasets, the detector collapses</a:t>
            </a:r>
            <a:endParaRPr lang="en-US" sz="3400" dirty="0"/>
          </a:p>
        </p:txBody>
      </p:sp>
      <p:sp>
        <p:nvSpPr>
          <p:cNvPr id="4" name="Chart frame"/>
          <p:cNvSpPr/>
          <p:nvPr/>
        </p:nvSpPr>
        <p:spPr>
          <a:xfrm>
            <a:off x="685800" y="1691640"/>
            <a:ext cx="6949440" cy="4224528"/>
          </a:xfrm>
          <a:prstGeom prst="roundRect">
            <a:avLst>
              <a:gd name="adj" fmla="val 2597"/>
            </a:avLst>
          </a:prstGeom>
          <a:solidFill>
            <a:srgbClr val="FFFFFF"/>
          </a:solidFill>
          <a:ln w="9525">
            <a:solidFill>
              <a:srgbClr val="DCD9D0"/>
            </a:solidFill>
            <a:prstDash val="solid"/>
          </a:ln>
        </p:spPr>
      </p:sp>
      <p:pic>
        <p:nvPicPr>
          <p:cNvPr id="5" name="Cross-corpus chart" descr="Accuracy within each dataset (blue) and on the other dataset (orange): ISOT headlines 94.6% within, 45.5% on LIAR; ISOT articles 98.4% within, 61.2% on McIntire; McIntire articles 91.9% within, 65.0% on ISOT. Dashed ticks mark chance.">    </p:cNvPr>
          <p:cNvPicPr>
            <a:picLocks noChangeAspect="1"/>
          </p:cNvPicPr>
          <p:nvPr/>
        </p:nvPicPr>
        <p:blipFill>
          <a:blip r:embed="rId1"/>
          <a:stretch>
            <a:fillRect/>
          </a:stretch>
        </p:blipFill>
        <p:spPr>
          <a:xfrm>
            <a:off x="731520" y="1719072"/>
            <a:ext cx="6858000" cy="4123481"/>
          </a:xfrm>
          <a:prstGeom prst="rect">
            <a:avLst/>
          </a:prstGeom>
        </p:spPr>
      </p:pic>
      <p:sp>
        <p:nvSpPr>
          <p:cNvPr id="6" name="Text 3"/>
          <p:cNvSpPr txBox="1"/>
          <p:nvPr/>
        </p:nvSpPr>
        <p:spPr>
          <a:xfrm>
            <a:off x="7955280" y="1737360"/>
            <a:ext cx="3547872"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45.5%</a:t>
            </a:r>
            <a:endParaRPr lang="en-US" sz="4000" dirty="0"/>
          </a:p>
        </p:txBody>
      </p:sp>
      <p:sp>
        <p:nvSpPr>
          <p:cNvPr id="7" name="Text 4"/>
          <p:cNvSpPr txBox="1"/>
          <p:nvPr/>
        </p:nvSpPr>
        <p:spPr>
          <a:xfrm>
            <a:off x="7955280" y="2423160"/>
            <a:ext cx="3547872" cy="640080"/>
          </a:xfrm>
          <a:prstGeom prst="rect">
            <a:avLst/>
          </a:prstGeom>
          <a:noFill/>
          <a:ln/>
        </p:spPr>
        <p:txBody>
          <a:bodyPr wrap="square" lIns="0" tIns="0" rIns="0" bIns="0" rtlCol="0" anchor="t"/>
          <a:lstStyle/>
          <a:p>
            <a:pPr indent="0" marL="0">
              <a:buNone/>
            </a:pPr>
            <a:r>
              <a:rPr lang="en-US" sz="1500" dirty="0">
                <a:solidFill>
                  <a:schemeClr val="tx2"/>
                </a:solidFill>
              </a:rPr>
              <a:t>on LIAR fact-checked statements, </a:t>
            </a:r>
            <a:pPr indent="0" marL="0">
              <a:buNone/>
            </a:pPr>
            <a:r>
              <a:rPr lang="en-US" sz="1500" b="1" dirty="0">
                <a:solidFill>
                  <a:schemeClr val="tx2"/>
                </a:solidFill>
              </a:rPr>
              <a:t>below</a:t>
            </a:r>
            <a:pPr indent="0" marL="0">
              <a:buNone/>
            </a:pPr>
            <a:r>
              <a:rPr lang="en-US" sz="1500" dirty="0">
                <a:solidFill>
                  <a:schemeClr val="tx2"/>
                </a:solidFill>
              </a:rPr>
              <a:t> its 55.8% chance</a:t>
            </a:r>
            <a:endParaRPr lang="en-US" sz="1500" dirty="0"/>
          </a:p>
        </p:txBody>
      </p:sp>
      <p:sp>
        <p:nvSpPr>
          <p:cNvPr id="8" name="Text 5"/>
          <p:cNvSpPr txBox="1"/>
          <p:nvPr/>
        </p:nvSpPr>
        <p:spPr>
          <a:xfrm>
            <a:off x="7955280" y="3154680"/>
            <a:ext cx="3547872" cy="685800"/>
          </a:xfrm>
          <a:prstGeom prst="rect">
            <a:avLst/>
          </a:prstGeom>
          <a:noFill/>
          <a:ln/>
        </p:spPr>
        <p:txBody>
          <a:bodyPr wrap="square" lIns="0" tIns="0" rIns="0" bIns="0" rtlCol="0" anchor="t"/>
          <a:lstStyle/>
          <a:p>
            <a:pPr indent="0" marL="0">
              <a:buNone/>
            </a:pPr>
            <a:r>
              <a:rPr lang="en-US" sz="4000" b="1" dirty="0">
                <a:solidFill>
                  <a:schemeClr val="accent2"/>
                </a:solidFill>
                <a:latin typeface="Cambria" pitchFamily="34" charset="0"/>
                <a:ea typeface="Cambria" pitchFamily="34" charset="-122"/>
                <a:cs typeface="Cambria" pitchFamily="34" charset="-120"/>
              </a:rPr>
              <a:t>61.2%</a:t>
            </a:r>
            <a:endParaRPr lang="en-US" sz="4000" dirty="0"/>
          </a:p>
        </p:txBody>
      </p:sp>
      <p:sp>
        <p:nvSpPr>
          <p:cNvPr id="9" name="Text 6"/>
          <p:cNvSpPr txBox="1"/>
          <p:nvPr/>
        </p:nvSpPr>
        <p:spPr>
          <a:xfrm>
            <a:off x="7955280" y="3840480"/>
            <a:ext cx="3547872" cy="640080"/>
          </a:xfrm>
          <a:prstGeom prst="rect">
            <a:avLst/>
          </a:prstGeom>
          <a:noFill/>
          <a:ln/>
        </p:spPr>
        <p:txBody>
          <a:bodyPr wrap="square" lIns="0" tIns="0" rIns="0" bIns="0" rtlCol="0" anchor="t"/>
          <a:lstStyle/>
          <a:p>
            <a:pPr indent="0" marL="0">
              <a:buNone/>
            </a:pPr>
            <a:r>
              <a:rPr lang="en-US" sz="1500" dirty="0">
                <a:solidFill>
                  <a:schemeClr val="tx2"/>
                </a:solidFill>
              </a:rPr>
              <a:t>on McIntire full articles (50.7% chance); 68% of genuine articles called fake</a:t>
            </a:r>
            <a:endParaRPr lang="en-US" sz="1500" dirty="0"/>
          </a:p>
        </p:txBody>
      </p:sp>
      <p:sp>
        <p:nvSpPr>
          <p:cNvPr id="10" name="Control note"/>
          <p:cNvSpPr txBox="1"/>
          <p:nvPr/>
        </p:nvSpPr>
        <p:spPr>
          <a:xfrm>
            <a:off x="7955280" y="4754880"/>
            <a:ext cx="3547872" cy="640080"/>
          </a:xfrm>
          <a:prstGeom prst="rect">
            <a:avLst/>
          </a:prstGeom>
          <a:noFill/>
          <a:ln/>
        </p:spPr>
        <p:txBody>
          <a:bodyPr wrap="square" lIns="0" tIns="0" rIns="0" bIns="0" rtlCol="0" anchor="t"/>
          <a:lstStyle/>
          <a:p>
            <a:pPr indent="0" marL="0">
              <a:buNone/>
            </a:pPr>
            <a:r>
              <a:rPr lang="en-US" sz="1500" dirty="0">
                <a:solidFill>
                  <a:schemeClr val="tx2"/>
                </a:solidFill>
              </a:rPr>
              <a:t>McIntire’s own model scores </a:t>
            </a:r>
            <a:pPr indent="0" marL="0">
              <a:buNone/>
            </a:pPr>
            <a:r>
              <a:rPr lang="en-US" sz="1500" b="1" dirty="0">
                <a:solidFill>
                  <a:schemeClr val="tx2"/>
                </a:solidFill>
              </a:rPr>
              <a:t>91.9%</a:t>
            </a:r>
            <a:pPr indent="0" marL="0">
              <a:buNone/>
            </a:pPr>
            <a:r>
              <a:rPr lang="en-US" sz="1500" dirty="0">
                <a:solidFill>
                  <a:schemeClr val="tx2"/>
                </a:solidFill>
              </a:rPr>
              <a:t>, so the task there is learnable.</a:t>
            </a:r>
            <a:endParaRPr lang="en-US" sz="15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Eyebrow"/>
          <p:cNvSpPr txBox="1"/>
          <p:nvPr/>
        </p:nvSpPr>
        <p:spPr>
          <a:xfrm>
            <a:off x="685800" y="1051560"/>
            <a:ext cx="10817352" cy="274320"/>
          </a:xfrm>
          <a:prstGeom prst="rect">
            <a:avLst/>
          </a:prstGeom>
          <a:noFill/>
          <a:ln/>
        </p:spPr>
        <p:txBody>
          <a:bodyPr wrap="square" lIns="0" tIns="0" rIns="0" bIns="0" rtlCol="0" anchor="ctr"/>
          <a:lstStyle/>
          <a:p>
            <a:pPr indent="0" marL="0">
              <a:buNone/>
            </a:pPr>
            <a:r>
              <a:rPr lang="en-US" sz="1200" b="1" spc="300" kern="0" dirty="0">
                <a:solidFill>
                  <a:schemeClr val="accent4"/>
                </a:solidFill>
              </a:rPr>
              <a:t>THE VERDICT</a:t>
            </a:r>
            <a:endParaRPr lang="en-US" sz="1200" dirty="0"/>
          </a:p>
        </p:txBody>
      </p:sp>
      <p:sp>
        <p:nvSpPr>
          <p:cNvPr id="3" name="Text 0"/>
          <p:cNvSpPr/>
          <p:nvPr>
            <p:ph idx="100" type="title" hasCustomPrompt="1"/>
          </p:nvPr>
        </p:nvSpPr>
        <p:spPr>
          <a:xfrm>
            <a:off x="685800" y="1554480"/>
            <a:ext cx="10058400" cy="201168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The 98% measures the newsroom, not the truth.</a:t>
            </a:r>
            <a:endParaRPr lang="en-US" sz="4400" dirty="0"/>
          </a:p>
        </p:txBody>
      </p:sp>
      <p:sp>
        <p:nvSpPr>
          <p:cNvPr id="4" name="Recommendation 1"/>
          <p:cNvSpPr/>
          <p:nvPr/>
        </p:nvSpPr>
        <p:spPr>
          <a:xfrm>
            <a:off x="685800" y="3657600"/>
            <a:ext cx="3410712" cy="2103120"/>
          </a:xfrm>
          <a:prstGeom prst="roundRect">
            <a:avLst>
              <a:gd name="adj" fmla="val 5217"/>
            </a:avLst>
          </a:prstGeom>
          <a:solidFill>
            <a:srgbClr val="1F2E52"/>
          </a:solidFill>
          <a:ln/>
        </p:spPr>
      </p:sp>
      <p:sp>
        <p:nvSpPr>
          <p:cNvPr id="5" name="Text 3"/>
          <p:cNvSpPr txBox="1"/>
          <p:nvPr/>
        </p:nvSpPr>
        <p:spPr>
          <a:xfrm>
            <a:off x="960120" y="3840480"/>
            <a:ext cx="283464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1</a:t>
            </a:r>
            <a:endParaRPr lang="en-US" sz="3000" dirty="0"/>
          </a:p>
        </p:txBody>
      </p:sp>
      <p:sp>
        <p:nvSpPr>
          <p:cNvPr id="6" name="Text 4"/>
          <p:cNvSpPr txBox="1"/>
          <p:nvPr/>
        </p:nvSpPr>
        <p:spPr>
          <a:xfrm>
            <a:off x="960120" y="4480560"/>
            <a:ext cx="2862072" cy="1097280"/>
          </a:xfrm>
          <a:prstGeom prst="rect">
            <a:avLst/>
          </a:prstGeom>
          <a:noFill/>
          <a:ln/>
        </p:spPr>
        <p:txBody>
          <a:bodyPr wrap="square" lIns="0" tIns="0" rIns="0" bIns="0" rtlCol="0" anchor="t"/>
          <a:lstStyle/>
          <a:p>
            <a:pPr indent="0" marL="0">
              <a:buNone/>
            </a:pPr>
            <a:r>
              <a:rPr lang="en-US" sz="1700" dirty="0">
                <a:solidFill>
                  <a:srgbClr val="F2EFE8"/>
                </a:solidFill>
              </a:rPr>
              <a:t>Report partial-input baselines next to every accuracy figure</a:t>
            </a:r>
            <a:endParaRPr lang="en-US" sz="1700" dirty="0"/>
          </a:p>
        </p:txBody>
      </p:sp>
      <p:sp>
        <p:nvSpPr>
          <p:cNvPr id="7" name="Recommendation 2"/>
          <p:cNvSpPr/>
          <p:nvPr/>
        </p:nvSpPr>
        <p:spPr>
          <a:xfrm>
            <a:off x="4389120" y="3657600"/>
            <a:ext cx="3410712" cy="2103120"/>
          </a:xfrm>
          <a:prstGeom prst="roundRect">
            <a:avLst>
              <a:gd name="adj" fmla="val 5217"/>
            </a:avLst>
          </a:prstGeom>
          <a:solidFill>
            <a:srgbClr val="1F2E52"/>
          </a:solidFill>
          <a:ln/>
        </p:spPr>
      </p:sp>
      <p:sp>
        <p:nvSpPr>
          <p:cNvPr id="8" name="Text 6"/>
          <p:cNvSpPr txBox="1"/>
          <p:nvPr/>
        </p:nvSpPr>
        <p:spPr>
          <a:xfrm>
            <a:off x="4663440" y="3840480"/>
            <a:ext cx="283464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2</a:t>
            </a:r>
            <a:endParaRPr lang="en-US" sz="3000" dirty="0"/>
          </a:p>
        </p:txBody>
      </p:sp>
      <p:sp>
        <p:nvSpPr>
          <p:cNvPr id="9" name="Text 7"/>
          <p:cNvSpPr txBox="1"/>
          <p:nvPr/>
        </p:nvSpPr>
        <p:spPr>
          <a:xfrm>
            <a:off x="4663440" y="4480560"/>
            <a:ext cx="2862072" cy="1097280"/>
          </a:xfrm>
          <a:prstGeom prst="rect">
            <a:avLst/>
          </a:prstGeom>
          <a:noFill/>
          <a:ln/>
        </p:spPr>
        <p:txBody>
          <a:bodyPr wrap="square" lIns="0" tIns="0" rIns="0" bIns="0" rtlCol="0" anchor="t"/>
          <a:lstStyle/>
          <a:p>
            <a:pPr indent="0" marL="0">
              <a:buNone/>
            </a:pPr>
            <a:r>
              <a:rPr lang="en-US" sz="1700" dirty="0">
                <a:solidFill>
                  <a:srgbClr val="F2EFE8"/>
                </a:solidFill>
              </a:rPr>
              <a:t>Test on an independently built corpus, or on unseen publishers</a:t>
            </a:r>
            <a:endParaRPr lang="en-US" sz="1700" dirty="0"/>
          </a:p>
        </p:txBody>
      </p:sp>
      <p:sp>
        <p:nvSpPr>
          <p:cNvPr id="10" name="Recommendation 3"/>
          <p:cNvSpPr/>
          <p:nvPr/>
        </p:nvSpPr>
        <p:spPr>
          <a:xfrm>
            <a:off x="8092440" y="3657600"/>
            <a:ext cx="3410712" cy="2103120"/>
          </a:xfrm>
          <a:prstGeom prst="roundRect">
            <a:avLst>
              <a:gd name="adj" fmla="val 5217"/>
            </a:avLst>
          </a:prstGeom>
          <a:solidFill>
            <a:srgbClr val="1F2E52"/>
          </a:solidFill>
          <a:ln/>
        </p:spPr>
      </p:sp>
      <p:sp>
        <p:nvSpPr>
          <p:cNvPr id="11" name="Text 9"/>
          <p:cNvSpPr txBox="1"/>
          <p:nvPr/>
        </p:nvSpPr>
        <p:spPr>
          <a:xfrm>
            <a:off x="8366760" y="3840480"/>
            <a:ext cx="2834640" cy="548640"/>
          </a:xfrm>
          <a:prstGeom prst="rect">
            <a:avLst/>
          </a:prstGeom>
          <a:noFill/>
          <a:ln/>
        </p:spPr>
        <p:txBody>
          <a:bodyPr wrap="square" lIns="0" tIns="0" rIns="0" bIns="0" rtlCol="0" anchor="t"/>
          <a:lstStyle/>
          <a:p>
            <a:pPr indent="0" marL="0">
              <a:buNone/>
            </a:pPr>
            <a:r>
              <a:rPr lang="en-US" sz="3000" b="1" dirty="0">
                <a:solidFill>
                  <a:schemeClr val="accent4"/>
                </a:solidFill>
                <a:latin typeface="Cambria" pitchFamily="34" charset="0"/>
                <a:ea typeface="Cambria" pitchFamily="34" charset="-122"/>
                <a:cs typeface="Cambria" pitchFamily="34" charset="-120"/>
              </a:rPr>
              <a:t>3</a:t>
            </a:r>
            <a:endParaRPr lang="en-US" sz="3000" dirty="0"/>
          </a:p>
        </p:txBody>
      </p:sp>
      <p:sp>
        <p:nvSpPr>
          <p:cNvPr id="12" name="Text 10"/>
          <p:cNvSpPr txBox="1"/>
          <p:nvPr/>
        </p:nvSpPr>
        <p:spPr>
          <a:xfrm>
            <a:off x="8366760" y="4480560"/>
            <a:ext cx="2862072" cy="1097280"/>
          </a:xfrm>
          <a:prstGeom prst="rect">
            <a:avLst/>
          </a:prstGeom>
          <a:noFill/>
          <a:ln/>
        </p:spPr>
        <p:txBody>
          <a:bodyPr wrap="square" lIns="0" tIns="0" rIns="0" bIns="0" rtlCol="0" anchor="t"/>
          <a:lstStyle/>
          <a:p>
            <a:pPr indent="0" marL="0">
              <a:buNone/>
            </a:pPr>
            <a:r>
              <a:rPr lang="en-US" sz="1700" dirty="0">
                <a:solidFill>
                  <a:srgbClr val="F2EFE8"/>
                </a:solidFill>
              </a:rPr>
              <a:t>Measure chance on the actual test set instead of assuming 50%</a:t>
            </a:r>
            <a:endParaRPr lang="en-US" sz="17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C8D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Eyebrow"/>
          <p:cNvSpPr txBox="1"/>
          <p:nvPr/>
        </p:nvSpPr>
        <p:spPr>
          <a:xfrm>
            <a:off x="685800" y="457200"/>
            <a:ext cx="10817352" cy="274320"/>
          </a:xfrm>
          <a:prstGeom prst="rect">
            <a:avLst/>
          </a:prstGeom>
          <a:noFill/>
          <a:ln/>
        </p:spPr>
        <p:txBody>
          <a:bodyPr wrap="square" lIns="0" tIns="0" rIns="0" bIns="0" rtlCol="0" anchor="ctr"/>
          <a:lstStyle/>
          <a:p>
            <a:pPr indent="0" marL="0">
              <a:buNone/>
            </a:pPr>
            <a:r>
              <a:rPr lang="en-US" sz="1200" b="1" spc="300" kern="0" dirty="0">
                <a:solidFill>
                  <a:schemeClr val="accent3"/>
                </a:solidFill>
              </a:rPr>
              <a:t>LIMITATIONS AND FUTURE WORK</a:t>
            </a:r>
            <a:endParaRPr lang="en-US" sz="1200" dirty="0"/>
          </a:p>
        </p:txBody>
      </p:sp>
      <p:sp>
        <p:nvSpPr>
          <p:cNvPr id="3" name="Text 0"/>
          <p:cNvSpPr/>
          <p:nvPr>
            <p:ph idx="100" type="title" hasCustomPrompt="1"/>
          </p:nvPr>
        </p:nvSpPr>
        <p:spPr>
          <a:xfrm>
            <a:off x="685800" y="777240"/>
            <a:ext cx="10817352" cy="731520"/>
          </a:xfrm>
          <a:prstGeom prst="rect">
            <a:avLst/>
          </a:prstGeom>
          <a:noFill/>
          <a:ln/>
        </p:spPr>
        <p:txBody>
          <a:bodyPr wrap="square" lIns="0" tIns="0" rIns="0" bIns="0" rtlCol="0" anchor="t"/>
          <a:lstStyle/>
          <a:p>
            <a:pPr algn="l" indent="0" marL="0">
              <a:buNone/>
            </a:pPr>
            <a:r>
              <a:rPr lang="en-US" sz="3400" b="1" dirty="0">
                <a:solidFill>
                  <a:schemeClr val="tx1"/>
                </a:solidFill>
                <a:latin typeface="Cambria" pitchFamily="34" charset="0"/>
                <a:ea typeface="Cambria" pitchFamily="34" charset="-122"/>
                <a:cs typeface="Cambria" pitchFamily="34" charset="-120"/>
              </a:rPr>
              <a:t>What this does not show, and what comes next</a:t>
            </a:r>
            <a:endParaRPr lang="en-US" sz="3400" dirty="0"/>
          </a:p>
        </p:txBody>
      </p:sp>
      <p:sp>
        <p:nvSpPr>
          <p:cNvPr id="4" name="Limitations card"/>
          <p:cNvSpPr/>
          <p:nvPr/>
        </p:nvSpPr>
        <p:spPr>
          <a:xfrm>
            <a:off x="685800" y="1691640"/>
            <a:ext cx="5212080" cy="2834640"/>
          </a:xfrm>
          <a:prstGeom prst="roundRect">
            <a:avLst>
              <a:gd name="adj" fmla="val 3871"/>
            </a:avLst>
          </a:prstGeom>
          <a:solidFill>
            <a:srgbClr val="FFFFFF"/>
          </a:solidFill>
          <a:ln w="9525">
            <a:solidFill>
              <a:srgbClr val="DCD9D0"/>
            </a:solidFill>
            <a:prstDash val="solid"/>
          </a:ln>
        </p:spPr>
      </p:sp>
      <p:sp>
        <p:nvSpPr>
          <p:cNvPr id="5" name="Text 3"/>
          <p:cNvSpPr txBox="1"/>
          <p:nvPr/>
        </p:nvSpPr>
        <p:spPr>
          <a:xfrm>
            <a:off x="1005840" y="19202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Limitations</a:t>
            </a:r>
            <a:endParaRPr lang="en-US" sz="1800" dirty="0"/>
          </a:p>
        </p:txBody>
      </p:sp>
      <p:sp>
        <p:nvSpPr>
          <p:cNvPr id="6" name="Text 4"/>
          <p:cNvSpPr txBox="1"/>
          <p:nvPr/>
        </p:nvSpPr>
        <p:spPr>
          <a:xfrm>
            <a:off x="1005840" y="242316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Probes run in depth on ISOT only</a:t>
            </a:r>
            <a:endParaRPr lang="en-US" sz="1500" dirty="0"/>
          </a:p>
          <a:p>
            <a:pPr marL="342900" indent="-342900">
              <a:spcAft>
                <a:spcPts val="800"/>
              </a:spcAft>
              <a:buSzPct val="100000"/>
              <a:buChar char="•"/>
            </a:pPr>
            <a:r>
              <a:rPr lang="en-US" sz="1500" dirty="0">
                <a:solidFill>
                  <a:schemeClr val="tx2"/>
                </a:solidFill>
              </a:rPr>
              <a:t>Classical models only, no transformers</a:t>
            </a:r>
            <a:endParaRPr lang="en-US" sz="1500" dirty="0"/>
          </a:p>
          <a:p>
            <a:pPr marL="342900" indent="-342900">
              <a:spcAft>
                <a:spcPts val="800"/>
              </a:spcAft>
              <a:buSzPct val="100000"/>
              <a:buChar char="•"/>
            </a:pPr>
            <a:r>
              <a:rPr lang="en-US" sz="1500" dirty="0">
                <a:solidFill>
                  <a:schemeClr val="tx2"/>
                </a:solidFill>
              </a:rPr>
              <a:t>Hand-written stripping rules, extended once and disclosed</a:t>
            </a:r>
            <a:endParaRPr lang="en-US" sz="1500" dirty="0"/>
          </a:p>
        </p:txBody>
      </p:sp>
      <p:sp>
        <p:nvSpPr>
          <p:cNvPr id="7" name="Future work card"/>
          <p:cNvSpPr/>
          <p:nvPr/>
        </p:nvSpPr>
        <p:spPr>
          <a:xfrm>
            <a:off x="6291072" y="1691640"/>
            <a:ext cx="5212080" cy="2834640"/>
          </a:xfrm>
          <a:prstGeom prst="roundRect">
            <a:avLst>
              <a:gd name="adj" fmla="val 3871"/>
            </a:avLst>
          </a:prstGeom>
          <a:solidFill>
            <a:srgbClr val="FFFFFF"/>
          </a:solidFill>
          <a:ln w="9525">
            <a:solidFill>
              <a:srgbClr val="DCD9D0"/>
            </a:solidFill>
            <a:prstDash val="solid"/>
          </a:ln>
        </p:spPr>
      </p:sp>
      <p:sp>
        <p:nvSpPr>
          <p:cNvPr id="8" name="Text 6"/>
          <p:cNvSpPr txBox="1"/>
          <p:nvPr/>
        </p:nvSpPr>
        <p:spPr>
          <a:xfrm>
            <a:off x="6611112" y="1920240"/>
            <a:ext cx="4572000" cy="365760"/>
          </a:xfrm>
          <a:prstGeom prst="rect">
            <a:avLst/>
          </a:prstGeom>
          <a:noFill/>
          <a:ln/>
        </p:spPr>
        <p:txBody>
          <a:bodyPr wrap="square" lIns="0" tIns="0" rIns="0" bIns="0" rtlCol="0" anchor="t"/>
          <a:lstStyle/>
          <a:p>
            <a:pPr indent="0" marL="0">
              <a:buNone/>
            </a:pPr>
            <a:r>
              <a:rPr lang="en-US" sz="1800" b="1" dirty="0">
                <a:solidFill>
                  <a:schemeClr val="tx1"/>
                </a:solidFill>
              </a:rPr>
              <a:t>Future work</a:t>
            </a:r>
            <a:endParaRPr lang="en-US" sz="1800" dirty="0"/>
          </a:p>
        </p:txBody>
      </p:sp>
      <p:sp>
        <p:nvSpPr>
          <p:cNvPr id="9" name="Text 7"/>
          <p:cNvSpPr txBox="1"/>
          <p:nvPr/>
        </p:nvSpPr>
        <p:spPr>
          <a:xfrm>
            <a:off x="6611112" y="242316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2"/>
                </a:solidFill>
              </a:rPr>
              <a:t>Test sets from publishers never seen in training</a:t>
            </a:r>
            <a:endParaRPr lang="en-US" sz="1500" dirty="0"/>
          </a:p>
          <a:p>
            <a:pPr marL="342900" indent="-342900">
              <a:spcAft>
                <a:spcPts val="800"/>
              </a:spcAft>
              <a:buSzPct val="100000"/>
              <a:buChar char="•"/>
            </a:pPr>
            <a:r>
              <a:rPr lang="en-US" sz="1500" dirty="0">
                <a:solidFill>
                  <a:schemeClr val="tx2"/>
                </a:solidFill>
              </a:rPr>
              <a:t>Benchmarks with true and false news from the same outlets</a:t>
            </a:r>
            <a:endParaRPr lang="en-US" sz="1500" dirty="0"/>
          </a:p>
          <a:p>
            <a:pPr marL="342900" indent="-342900">
              <a:spcAft>
                <a:spcPts val="800"/>
              </a:spcAft>
              <a:buSzPct val="100000"/>
              <a:buChar char="•"/>
            </a:pPr>
            <a:r>
              <a:rPr lang="en-US" sz="1500" dirty="0">
                <a:solidFill>
                  <a:schemeClr val="tx2"/>
                </a:solidFill>
              </a:rPr>
              <a:t>The same probes on transformer models and other corpora</a:t>
            </a:r>
            <a:endParaRPr lang="en-US" sz="1500" dirty="0"/>
          </a:p>
        </p:txBody>
      </p:sp>
      <p:sp>
        <p:nvSpPr>
          <p:cNvPr id="10" name="Repository link"/>
          <p:cNvSpPr txBox="1"/>
          <p:nvPr/>
        </p:nvSpPr>
        <p:spPr>
          <a:xfrm>
            <a:off x="685800" y="5074920"/>
            <a:ext cx="7589520" cy="731520"/>
          </a:xfrm>
          <a:prstGeom prst="rect">
            <a:avLst/>
          </a:prstGeom>
          <a:noFill/>
          <a:ln/>
        </p:spPr>
        <p:txBody>
          <a:bodyPr wrap="square" lIns="0" tIns="0" rIns="0" bIns="0" rtlCol="0" anchor="t"/>
          <a:lstStyle/>
          <a:p>
            <a:pPr indent="0" marL="0">
              <a:spcAft>
                <a:spcPts val="400"/>
              </a:spcAft>
              <a:buNone/>
            </a:pPr>
            <a:r>
              <a:rPr lang="en-US" sz="1300" dirty="0">
                <a:solidFill>
                  <a:schemeClr val="tx2"/>
                </a:solidFill>
              </a:rPr>
              <a:t>Code, data and results, reproducible in one command (about 5 minutes):</a:t>
            </a:r>
            <a:endParaRPr lang="en-US" sz="1300" dirty="0"/>
          </a:p>
          <a:p>
            <a:pPr indent="0" marL="0">
              <a:spcAft>
                <a:spcPts val="400"/>
              </a:spcAft>
              <a:buNone/>
            </a:pPr>
            <a:r>
              <a:rPr lang="en-US" sz="1600" b="1" u="sng" dirty="0">
                <a:solidFill>
                  <a:schemeClr val="accent3"/>
                </a:solidFill>
                <a:hlinkClick r:id="rId1" invalidUrl="" action="" tgtFrame="" tooltip="" history="1" highlightClick="0" endSnd="0">
                  <a:extLst>
                    <a:ext uri="{A12FA001-AC4F-418D-AE19-62706E023703}">
                      <ahyp:hlinkClr xmlns:ahyp="http://schemas.microsoft.com/office/drawing/2018/hyperlinkcolor" val="tx"/>
                    </a:ext>
                  </a:extLst>
                </a:hlinkClick>
              </a:rPr>
              <a:t>github.com/FirezTheGreat/fake-news-partial-input-baselines</a:t>
            </a:r>
            <a:endParaRPr lang="en-US" sz="1300" dirty="0"/>
          </a:p>
        </p:txBody>
      </p:sp>
      <p:sp>
        <p:nvSpPr>
          <p:cNvPr id="11" name="Questions"/>
          <p:cNvSpPr txBox="1"/>
          <p:nvPr/>
        </p:nvSpPr>
        <p:spPr>
          <a:xfrm>
            <a:off x="8503920" y="5029200"/>
            <a:ext cx="2999232" cy="731520"/>
          </a:xfrm>
          <a:prstGeom prst="rect">
            <a:avLst/>
          </a:prstGeom>
          <a:noFill/>
          <a:ln/>
        </p:spPr>
        <p:txBody>
          <a:bodyPr wrap="square" lIns="0" tIns="0" rIns="0" bIns="0" rtlCol="0" anchor="t"/>
          <a:lstStyle/>
          <a:p>
            <a:pPr algn="r" indent="0" marL="0">
              <a:buNone/>
            </a:pPr>
            <a:r>
              <a:rPr lang="en-US" sz="3200" b="1" dirty="0">
                <a:solidFill>
                  <a:schemeClr val="tx1"/>
                </a:solidFill>
                <a:latin typeface="Cambria" pitchFamily="34" charset="0"/>
                <a:ea typeface="Cambria" pitchFamily="34" charset="-122"/>
                <a:cs typeface="Cambria" pitchFamily="34" charset="-120"/>
              </a:rPr>
              <a:t>Questions?</a:t>
            </a:r>
            <a:endParaRPr lang="en-US" sz="32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E4A5C"/>
                </a:solidFill>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Partial-Input Baselines">
  <a:themeElements>
    <a:clrScheme name="Partial-Input Baselines">
      <a:dk1>
        <a:srgbClr val="14213D"/>
      </a:dk1>
      <a:lt1>
        <a:srgbClr val="F7F6F2"/>
      </a:lt1>
      <a:dk2>
        <a:srgbClr val="3E4A5C"/>
      </a:dk2>
      <a:lt2>
        <a:srgbClr val="ECEAE3"/>
      </a:lt2>
      <a:accent1>
        <a:srgbClr val="2A78D6"/>
      </a:accent1>
      <a:accent2>
        <a:srgbClr val="D2582A"/>
      </a:accent2>
      <a:accent3>
        <a:srgbClr val="1E5BB0"/>
      </a:accent3>
      <a:accent4>
        <a:srgbClr val="F08A5D"/>
      </a:accent4>
      <a:accent5>
        <a:srgbClr val="1F2E52"/>
      </a:accent5>
      <a:accent6>
        <a:srgbClr val="BFC8D6"/>
      </a:accent6>
      <a:hlink>
        <a:srgbClr val="1E5BB0"/>
      </a:hlink>
      <a:folHlink>
        <a:srgbClr val="1E5BB0"/>
      </a:folHlink>
    </a:clrScheme>
    <a:fontScheme name="Partial-Input Baseline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Partial-Input Baselines Reveal Construction Artifacts in Fake News Benchmarks</dc:title>
  <dc:subject>PptxGenJS Presentation</dc:subject>
  <dc:creator>Abhishek Ghosh</dc:creator>
  <cp:lastModifiedBy>Abhishek Ghosh</cp:lastModifiedBy>
  <cp:revision>1</cp:revision>
  <dcterms:created xsi:type="dcterms:W3CDTF">2026-10-27T13:03:37Z</dcterms:created>
  <dcterms:modified xsi:type="dcterms:W3CDTF">2026-10-27T13:03:37Z</dcterms:modified>
</cp:coreProperties>
</file>